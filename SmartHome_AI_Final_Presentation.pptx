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72"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4A"/>
                </a:solidFill>
                <a:latin typeface="Calibri"/>
              </a:defRPr>
            </a:pPr>
            <a:r>
              <a:rPr lang="en-US" sz="1300" b="0" i="0" u="none" strike="noStrike">
                <a:solidFill>
                  <a:srgbClr val="1B2A4A"/>
                </a:solidFill>
                <a:latin typeface="Calibri"/>
              </a:rPr>
              <a:t>Retrieval ranking across 40 evaluation queries</a:t>
            </a:r>
          </a:p>
        </c:rich>
      </c:tx>
      <c:overlay val="0"/>
    </c:title>
    <c:autoTitleDeleted val="0"/>
    <c:plotArea>
      <c:layout/>
      <c:barChart>
        <c:barDir val="col"/>
        <c:grouping val="clustered"/>
        <c:varyColors val="0"/>
        <c:ser>
          <c:idx val="0"/>
          <c:order val="0"/>
          <c:tx>
            <c:strRef>
              <c:f>Sheet1!$B$1</c:f>
              <c:strCache>
                <c:ptCount val="1"/>
                <c:pt idx="0">
                  <c:v>MRR</c:v>
                </c:pt>
              </c:strCache>
            </c:strRef>
          </c:tx>
          <c:spPr>
            <a:solidFill>
              <a:srgbClr val="2563EB">
                <a:alpha val="100000"/>
              </a:srgbClr>
            </a:solidFill>
            <a:effectLst/>
          </c:spPr>
          <c:invertIfNegative val="0"/>
          <c:dPt>
            <c:idx val="0"/>
            <c:invertIfNegative val="0"/>
            <c:bubble3D val="0"/>
            <c:spPr>
              <a:solidFill>
                <a:srgbClr val="2563EB"/>
              </a:solidFill>
              <a:effectLst/>
            </c:spPr>
            <c:extLst>
              <c:ext xmlns:c16="http://schemas.microsoft.com/office/drawing/2014/chart" uri="{C3380CC4-5D6E-409C-BE32-E72D297353CC}">
                <c16:uniqueId val="{00000001-51CC-4A8A-BC69-42EE5DBD30EB}"/>
              </c:ext>
            </c:extLst>
          </c:dPt>
          <c:dPt>
            <c:idx val="1"/>
            <c:invertIfNegative val="0"/>
            <c:bubble3D val="0"/>
            <c:spPr>
              <a:solidFill>
                <a:srgbClr val="1B2A4A"/>
              </a:solidFill>
              <a:effectLst/>
            </c:spPr>
            <c:extLst>
              <c:ext xmlns:c16="http://schemas.microsoft.com/office/drawing/2014/chart" uri="{C3380CC4-5D6E-409C-BE32-E72D297353CC}">
                <c16:uniqueId val="{00000003-51CC-4A8A-BC69-42EE5DBD30EB}"/>
              </c:ext>
            </c:extLst>
          </c:dPt>
          <c:dLbls>
            <c:numFmt formatCode="0.000" sourceLinked="0"/>
            <c:spPr>
              <a:noFill/>
              <a:ln>
                <a:noFill/>
              </a:ln>
              <a:effectLst/>
            </c:spPr>
            <c:txPr>
              <a:bodyPr/>
              <a:lstStyle/>
              <a:p>
                <a:pPr>
                  <a:defRPr sz="1200" b="1"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Hybrid</c:v>
                </c:pt>
                <c:pt idx="1">
                  <c:v>Hybrid + Rerank</c:v>
                </c:pt>
              </c:strCache>
            </c:strRef>
          </c:cat>
          <c:val>
            <c:numRef>
              <c:f>Sheet1!$B$2:$B$3</c:f>
              <c:numCache>
                <c:formatCode>General</c:formatCode>
                <c:ptCount val="2"/>
                <c:pt idx="0">
                  <c:v>0.63700000000000001</c:v>
                </c:pt>
                <c:pt idx="1">
                  <c:v>0.66700000000000004</c:v>
                </c:pt>
              </c:numCache>
            </c:numRef>
          </c:val>
          <c:extLst>
            <c:ext xmlns:c16="http://schemas.microsoft.com/office/drawing/2014/chart" uri="{C3380CC4-5D6E-409C-BE32-E72D297353CC}">
              <c16:uniqueId val="{00000004-51CC-4A8A-BC69-42EE5DBD30E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C"/>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12700" cap="flat">
              <a:solidFill>
                <a:srgbClr val="E3EAF5"/>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4A"/>
                </a:solidFill>
                <a:latin typeface="Calibri"/>
              </a:defRPr>
            </a:pPr>
            <a:r>
              <a:rPr lang="en-US" sz="1300" b="0" i="0" u="none" strike="noStrike">
                <a:solidFill>
                  <a:srgbClr val="1B2A4A"/>
                </a:solidFill>
                <a:latin typeface="Calibri"/>
              </a:rPr>
              <a:t>Golden set by category</a:t>
            </a:r>
          </a:p>
        </c:rich>
      </c:tx>
      <c:overlay val="0"/>
    </c:title>
    <c:autoTitleDeleted val="0"/>
    <c:plotArea>
      <c:layout/>
      <c:barChart>
        <c:barDir val="bar"/>
        <c:grouping val="clustered"/>
        <c:varyColors val="0"/>
        <c:ser>
          <c:idx val="0"/>
          <c:order val="0"/>
          <c:tx>
            <c:strRef>
              <c:f>Sheet1!$B$1</c:f>
              <c:strCache>
                <c:ptCount val="1"/>
                <c:pt idx="0">
                  <c:v>Items</c:v>
                </c:pt>
              </c:strCache>
            </c:strRef>
          </c:tx>
          <c:spPr>
            <a:solidFill>
              <a:srgbClr val="2563EB"/>
            </a:solidFill>
            <a:effectLst/>
          </c:spPr>
          <c:invertIfNegative val="0"/>
          <c:dLbls>
            <c:numFmt formatCode="#,##0" sourceLinked="0"/>
            <c:spPr>
              <a:noFill/>
              <a:ln>
                <a:noFill/>
              </a:ln>
              <a:effectLst/>
            </c:spPr>
            <c:txPr>
              <a:bodyPr/>
              <a:lstStyle/>
              <a:p>
                <a:pPr>
                  <a:defRPr sz="1200" b="1"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Ambiguous/adversarial</c:v>
                </c:pt>
                <c:pt idx="1">
                  <c:v>Temporal</c:v>
                </c:pt>
                <c:pt idx="2">
                  <c:v>Comparative</c:v>
                </c:pt>
                <c:pt idx="3">
                  <c:v>Multi-hop</c:v>
                </c:pt>
                <c:pt idx="4">
                  <c:v>Unanswerable</c:v>
                </c:pt>
                <c:pt idx="5">
                  <c:v>Single-hop factual</c:v>
                </c:pt>
              </c:strCache>
            </c:strRef>
          </c:cat>
          <c:val>
            <c:numRef>
              <c:f>Sheet1!$B$2:$B$7</c:f>
              <c:numCache>
                <c:formatCode>General</c:formatCode>
                <c:ptCount val="6"/>
                <c:pt idx="0">
                  <c:v>3</c:v>
                </c:pt>
                <c:pt idx="1">
                  <c:v>4</c:v>
                </c:pt>
                <c:pt idx="2">
                  <c:v>4</c:v>
                </c:pt>
                <c:pt idx="3">
                  <c:v>6</c:v>
                </c:pt>
                <c:pt idx="4">
                  <c:v>8</c:v>
                </c:pt>
                <c:pt idx="5">
                  <c:v>15</c:v>
                </c:pt>
              </c:numCache>
            </c:numRef>
          </c:val>
          <c:extLst>
            <c:ext xmlns:c16="http://schemas.microsoft.com/office/drawing/2014/chart" uri="{C3380CC4-5D6E-409C-BE32-E72D297353CC}">
              <c16:uniqueId val="{00000000-6D26-4E98-81FA-E854A4976E8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C"/>
                </a:solidFill>
                <a:latin typeface="Arial"/>
              </a:defRPr>
            </a:pPr>
            <a:endParaRPr lang="en-US"/>
          </a:p>
        </c:txPr>
        <c:crossAx val="2094734552"/>
        <c:crosses val="autoZero"/>
        <c:auto val="1"/>
        <c:lblAlgn val="ctr"/>
        <c:lblOffset val="100"/>
        <c:noMultiLvlLbl val="1"/>
      </c:catAx>
      <c:valAx>
        <c:axId val="2094734552"/>
        <c:scaling>
          <c:orientation val="minMax"/>
          <c:max val="17"/>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841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the ApplianceAI team. Over the residency weekend we built a chatbot that helps people fix Whirlpool and GE appliances. It only answers from official support pages and it shows its sources. Today we will walk you from the problem to the product to the numbers.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user. When an appliance breaks, the information exists, but it is buried in long manuals and spread across many pages. General chatbots make it worse because they guess. When people cannot find the fix, they pay for a technician. That is the gap we aim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money side, with published prices. A technician visit runs 70 to 130 dollars before any repair, and the average repair bill is about 179 dollars. Our bot returns a cited answer in about two seconds. If it saves even a few needless visits, it pays for itself. This is how the technical work turns into a business case.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The interface is simple on purpose. Before troubleshooting it asks for the brand and model, because a fix for one washer can be wrong for another. It answers only from official Whirlpool and GE pages, and every answer carries a link so the user can check 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nine stages, from a polite crawl to answer generation. Embeddings use BGE-small with cosine similarity on normalized vectors. The rule that ties it together is simple. The model never answers from memory. It answers from retrieved chunks or it refuses. Everything after this slide is us measuring how well each stage works.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crawled 162 public pages and kept 148 after removing duplicates, including seven PDF manuals and five pages with tables. We were polite about it. We honored robots dot txt in code, waited a second between requests, and identified ourselves. Raw bytes went to disk with a URL, a timestamp and a hash before we parsed anything, so every later stage can be rebuilt without touching their servers again.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two chunking strategies on the same corpus. Fixed-size chunking used a 400-token target with a 60-token overlap and produced 584 chunks with a median estimated size of 344 tokens. Structure-aware chunking split on headings, carried the heading path into each chunk, and produced 868 chunks with a median estimated size of 76 tokens. The result is that fixed-size chunking gave fewer, larger chunks, while structure-aware chunking gave more granular, heading-aligned chunks. We rebuilt from saved text without recrawling, deleted stale chunks by their stable IDs, and confirmed the index held no orphans.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combined keyword and semantic search. BM25 captures exact terms and dense retrieval captures meaning. From a pool of 20 candidates, Recall@20 was 0.725 and Recall@5 was 0.700 across the 40 evaluation queries. Adding the reranker raised MRR from 0.637 to 0.667, a lift of 0.030, while Recall@5 and Recall@20 stayed the same. That means reranking improved ordering but did not recover additional relevant sources. On latency, hybrid retrieval alone took about 0.058 seconds, the reranker added about 2.516 seconds, for a final retrieval latency of about 2.574 seconds per query. We are temporarily excluding nDCG@10 because the current calculation returned values above 1.0 and needs correcting before we report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evaluation set has 40 items across six categories, including eight questions the corpus cannot answer, which test refusal. We wrote them from the source pages before final system tuning. Human verification is still pending, so gold answers, source URLs and evidence quotes still need manual review against the original pages. The split is stratified 60 40, with 24 development items for tuning and 16 held out test items reserved for one final evaluation 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our technical summary. On retrieval accuracy, the expected source appeared in the top 5 results for 70 percent of the 40 queries, that is 28 of 40, and in the top 20 for 72.5 percent, 29 of 40. We call this retrieval accuracy because it measures whether the right source was retrieved, not whether the generated answer was correct. The index is consistent. All 726 chunks in the JSONL files match 726 vectors in ChromaDB, embeddings are 384 dimensional BGE small vectors, L2 normalised with a sample norm of 1.0, and the old collection was deleted before the rebuild. The pipeline flows from dense plus BM25 to a pool of 20 candidates, through the reranker, down to the top 5 chunks. Fixed chunking gave 584 larger chunks with a median around 344 tokens, while structure aware chunking gave 868 smaller heading aligned chunks with a median around 76 tokens.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was built in, not bolted on. When the corpus does not hold the answer, the bot says it does not know. It refused seven of the eight unanswerable questions and over refused only twice on answerable ones. We planted a page with a prompt injection and the bot ignored the instruction. Citations were valid 95 percent of the time and quotes are capped at 25 words. And anything involving gas, wiring or warranty gets referred to a real technician.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failure count on its own is misleading. Of the 40 queries, 29 had their expected source retrieved in the top 20, which is our 72.5 percent Recall@20. Of the remaining misses, 10 were intentionally unanswerable or ambiguous queries with no required source at all, so those are expected and not errors. That leaves one confirmed answerable retrieval miss, where the expected source was not found in the top 20. One important caveat: the current evaluator only measures retrieval behaviour. It does not yet classify generator errors, citation problems, over-refusals or hallucinations. Manual root-cause labelling of 15 cases is the next step the professor requires.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intended generation flow. It starts with the user question, and the system collects the brand, appliance type and model when needed. The retrieval pipeline hands the model the top five reranked chunks, each with its source title and URL. A grounding prompt then constrains the model to answer only from that context, cite the source, and refuse when the evidence is not enough. Qwen2.5, running locally through Ollama, turns that evidence into a concise troubleshooting answer. The model is instructed to return a grounded answer with a source link, or refuse when the retrieved evidence is insufficient. We are deliberately not showing generation metrics here, because answer correctness, citation validity, refusal rate, hallucination count, and generation latency have not yet been measured by the current evaluation code.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More brands can join with the same pipeline, since ingestion is brand neutral. Voice fits this domain well because your hands are inside a machine. Mobile is where the questions actually happen. And we want a stronger reranker plus more languages. The key point is at the bottom. The golden set stays our gate. Nothing ships unless it beats the same 40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our team. Everyone owned a stage and reviewed someone else. Main was protected, all work came in through reviewed pull requests, and the board tracked every stage and report. Thank you. We are glad to take questions, and we can show a live example of the bot refusing a question it cannot support.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4800600" y="-187234"/>
            <a:ext cx="5669280" cy="5669280"/>
          </a:xfrm>
          <a:prstGeom prst="ellipse">
            <a:avLst/>
          </a:prstGeom>
          <a:solidFill>
            <a:srgbClr val="24365E"/>
          </a:solidFill>
          <a:ln/>
        </p:spPr>
        <p:txBody>
          <a:bodyPr/>
          <a:lstStyle/>
          <a:p>
            <a:endParaRPr lang="en-US" dirty="0"/>
          </a:p>
        </p:txBody>
      </p:sp>
      <p:sp>
        <p:nvSpPr>
          <p:cNvPr id="3" name="Shape 1"/>
          <p:cNvSpPr/>
          <p:nvPr/>
        </p:nvSpPr>
        <p:spPr>
          <a:xfrm>
            <a:off x="7635240" y="3474720"/>
            <a:ext cx="3108960" cy="3108960"/>
          </a:xfrm>
          <a:prstGeom prst="ellipse">
            <a:avLst/>
          </a:prstGeom>
          <a:solidFill>
            <a:srgbClr val="2563EB">
              <a:alpha val="22000"/>
            </a:srgbClr>
          </a:solidFill>
          <a:ln/>
        </p:spPr>
        <p:txBody>
          <a:bodyPr/>
          <a:lstStyle/>
          <a:p>
            <a:endParaRPr lang="en-US"/>
          </a:p>
        </p:txBody>
      </p:sp>
      <p:sp>
        <p:nvSpPr>
          <p:cNvPr id="4" name="Shape 2"/>
          <p:cNvSpPr/>
          <p:nvPr/>
        </p:nvSpPr>
        <p:spPr>
          <a:xfrm>
            <a:off x="566928" y="685800"/>
            <a:ext cx="566928" cy="566928"/>
          </a:xfrm>
          <a:prstGeom prst="ellipse">
            <a:avLst/>
          </a:prstGeom>
          <a:solidFill>
            <a:srgbClr val="2563EB"/>
          </a:solidFill>
          <a:ln/>
        </p:spPr>
        <p:txBody>
          <a:bodyPr/>
          <a:lstStyle/>
          <a:p>
            <a:endParaRPr lang="en-US"/>
          </a:p>
        </p:txBody>
      </p:sp>
      <p:pic>
        <p:nvPicPr>
          <p:cNvPr id="5" name="Image 0" descr="assets/icons/home_w.png"/>
          <p:cNvPicPr>
            <a:picLocks noChangeAspect="1"/>
          </p:cNvPicPr>
          <p:nvPr/>
        </p:nvPicPr>
        <p:blipFill>
          <a:blip r:embed="rId3"/>
          <a:stretch>
            <a:fillRect/>
          </a:stretch>
        </p:blipFill>
        <p:spPr>
          <a:xfrm>
            <a:off x="719999" y="838871"/>
            <a:ext cx="260787" cy="260787"/>
          </a:xfrm>
          <a:prstGeom prst="rect">
            <a:avLst/>
          </a:prstGeom>
        </p:spPr>
      </p:pic>
      <p:sp>
        <p:nvSpPr>
          <p:cNvPr id="6" name="Text 3"/>
          <p:cNvSpPr/>
          <p:nvPr/>
        </p:nvSpPr>
        <p:spPr>
          <a:xfrm>
            <a:off x="566928" y="1481328"/>
            <a:ext cx="5943600" cy="292608"/>
          </a:xfrm>
          <a:prstGeom prst="rect">
            <a:avLst/>
          </a:prstGeom>
          <a:noFill/>
          <a:ln/>
        </p:spPr>
        <p:txBody>
          <a:bodyPr wrap="square" lIns="0" tIns="0" rIns="0" bIns="0" rtlCol="0" anchor="ctr"/>
          <a:lstStyle/>
          <a:p>
            <a:pPr marL="0" indent="0">
              <a:buNone/>
            </a:pPr>
            <a:r>
              <a:rPr lang="en-US" sz="1300" b="1" kern="0" spc="300" dirty="0">
                <a:solidFill>
                  <a:srgbClr val="A9C3EE"/>
                </a:solidFill>
                <a:latin typeface="Calibri" pitchFamily="34" charset="0"/>
                <a:ea typeface="Calibri" pitchFamily="34" charset="-122"/>
                <a:cs typeface="Calibri" pitchFamily="34" charset="-120"/>
              </a:rPr>
              <a:t>MSAI 633  RESIDENCY PROJECT</a:t>
            </a:r>
            <a:endParaRPr lang="en-US" sz="1300" dirty="0"/>
          </a:p>
        </p:txBody>
      </p:sp>
      <p:sp>
        <p:nvSpPr>
          <p:cNvPr id="7" name="Text 4"/>
          <p:cNvSpPr/>
          <p:nvPr/>
        </p:nvSpPr>
        <p:spPr>
          <a:xfrm>
            <a:off x="530352" y="1783080"/>
            <a:ext cx="7680960" cy="96012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Smart Home AI Assistant</a:t>
            </a:r>
            <a:endParaRPr lang="en-US" sz="4800" dirty="0"/>
          </a:p>
        </p:txBody>
      </p:sp>
      <p:sp>
        <p:nvSpPr>
          <p:cNvPr id="8" name="Text 5"/>
          <p:cNvSpPr/>
          <p:nvPr/>
        </p:nvSpPr>
        <p:spPr>
          <a:xfrm>
            <a:off x="566928" y="2852928"/>
            <a:ext cx="6035040" cy="777240"/>
          </a:xfrm>
          <a:prstGeom prst="rect">
            <a:avLst/>
          </a:prstGeom>
          <a:noFill/>
          <a:ln/>
        </p:spPr>
        <p:txBody>
          <a:bodyPr wrap="square" lIns="0" tIns="0" rIns="0" bIns="0" rtlCol="0" anchor="ctr"/>
          <a:lstStyle/>
          <a:p>
            <a:pPr marL="0" indent="0">
              <a:buNone/>
            </a:pPr>
            <a:r>
              <a:rPr lang="en-US" sz="1500" dirty="0">
                <a:solidFill>
                  <a:srgbClr val="D7E3F6"/>
                </a:solidFill>
                <a:latin typeface="Calibri" pitchFamily="34" charset="0"/>
                <a:ea typeface="Calibri" pitchFamily="34" charset="-122"/>
                <a:cs typeface="Calibri" pitchFamily="34" charset="-120"/>
              </a:rPr>
              <a:t>A retrieval augmented chatbot that answers Whirlpool and GE appliance questions from official support pages, with a source link on every answer.</a:t>
            </a:r>
            <a:endParaRPr lang="en-US" sz="1500" dirty="0"/>
          </a:p>
        </p:txBody>
      </p:sp>
      <p:sp>
        <p:nvSpPr>
          <p:cNvPr id="9" name="Text 6"/>
          <p:cNvSpPr/>
          <p:nvPr/>
        </p:nvSpPr>
        <p:spPr>
          <a:xfrm>
            <a:off x="566928" y="4160520"/>
            <a:ext cx="6949440" cy="685800"/>
          </a:xfrm>
          <a:prstGeom prst="rect">
            <a:avLst/>
          </a:prstGeom>
          <a:noFill/>
          <a:ln/>
        </p:spPr>
        <p:txBody>
          <a:bodyPr wrap="square" lIns="0" tIns="0" rIns="0" bIns="0" rtlCol="0" anchor="ctr"/>
          <a:lstStyle/>
          <a:p>
            <a:pPr marL="0" indent="0">
              <a:spcAft>
                <a:spcPts val="600"/>
              </a:spcAft>
              <a:buNone/>
            </a:pPr>
            <a:r>
              <a:rPr lang="en-US" sz="1300" b="1" dirty="0">
                <a:solidFill>
                  <a:srgbClr val="FFFFFF"/>
                </a:solidFill>
                <a:latin typeface="Calibri" pitchFamily="34" charset="0"/>
                <a:ea typeface="Calibri" pitchFamily="34" charset="-122"/>
                <a:cs typeface="Calibri" pitchFamily="34" charset="-120"/>
              </a:rPr>
              <a:t>Divya Kotha    </a:t>
            </a:r>
            <a:r>
              <a:rPr lang="en-US" sz="1300" b="1" dirty="0" err="1">
                <a:solidFill>
                  <a:srgbClr val="FFFFFF"/>
                </a:solidFill>
                <a:latin typeface="Calibri" pitchFamily="34" charset="0"/>
                <a:ea typeface="Calibri" pitchFamily="34" charset="-122"/>
                <a:cs typeface="Calibri" pitchFamily="34" charset="-120"/>
              </a:rPr>
              <a:t>MedhaSri</a:t>
            </a:r>
            <a:r>
              <a:rPr lang="en-US" sz="1300" b="1" dirty="0">
                <a:solidFill>
                  <a:srgbClr val="FFFFFF"/>
                </a:solidFill>
                <a:latin typeface="Calibri" pitchFamily="34" charset="0"/>
                <a:ea typeface="Calibri" pitchFamily="34" charset="-122"/>
                <a:cs typeface="Calibri" pitchFamily="34" charset="-120"/>
              </a:rPr>
              <a:t>    Sanjana    Manisha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Fixing a broken appliance starts with a search that fails</a:t>
            </a:r>
            <a:endParaRPr lang="en-US" sz="2700" dirty="0"/>
          </a:p>
        </p:txBody>
      </p:sp>
      <p:sp>
        <p:nvSpPr>
          <p:cNvPr id="4" name="Text 2"/>
          <p:cNvSpPr/>
          <p:nvPr/>
        </p:nvSpPr>
        <p:spPr>
          <a:xfrm>
            <a:off x="502920" y="1325880"/>
            <a:ext cx="3246120" cy="2377440"/>
          </a:xfrm>
          <a:prstGeom prst="rect">
            <a:avLst/>
          </a:prstGeom>
          <a:noFill/>
          <a:ln/>
        </p:spPr>
        <p:txBody>
          <a:bodyPr wrap="square" lIns="0" tIns="0" rIns="0" bIns="0" rtlCol="0" anchor="ctr"/>
          <a:lstStyle/>
          <a:p>
            <a:pPr marL="0" indent="0">
              <a:lnSpc>
                <a:spcPct val="125000"/>
              </a:lnSpc>
              <a:buNone/>
            </a:pPr>
            <a:r>
              <a:rPr lang="en-US" sz="1450" dirty="0">
                <a:solidFill>
                  <a:srgbClr val="33415C"/>
                </a:solidFill>
                <a:latin typeface="Calibri" pitchFamily="34" charset="0"/>
                <a:ea typeface="Calibri" pitchFamily="34" charset="-122"/>
                <a:cs typeface="Calibri" pitchFamily="34" charset="-120"/>
              </a:rPr>
              <a:t>Your washer stops mid cycle. The manual is 80 pages. The support site spreads the fix across five links. A general chatbot sounds sure of itself but may be wrong. So most people give up and book a technician for something a reset would have fixed.</a:t>
            </a:r>
            <a:endParaRPr lang="en-US" sz="1450" dirty="0"/>
          </a:p>
        </p:txBody>
      </p:sp>
      <p:sp>
        <p:nvSpPr>
          <p:cNvPr id="5" name="Text 3"/>
          <p:cNvSpPr/>
          <p:nvPr/>
        </p:nvSpPr>
        <p:spPr>
          <a:xfrm>
            <a:off x="502920" y="3794760"/>
            <a:ext cx="3246120" cy="548640"/>
          </a:xfrm>
          <a:prstGeom prst="rect">
            <a:avLst/>
          </a:prstGeom>
          <a:noFill/>
          <a:ln/>
        </p:spPr>
        <p:txBody>
          <a:bodyPr wrap="square" lIns="0" tIns="0" rIns="0" bIns="0" rtlCol="0" anchor="ctr"/>
          <a:lstStyle/>
          <a:p>
            <a:pPr marL="0" indent="0">
              <a:buNone/>
            </a:pPr>
            <a:r>
              <a:rPr lang="en-US" sz="1450" b="1" i="1" dirty="0">
                <a:solidFill>
                  <a:srgbClr val="2563EB"/>
                </a:solidFill>
                <a:latin typeface="Calibri" pitchFamily="34" charset="0"/>
                <a:ea typeface="Calibri" pitchFamily="34" charset="-122"/>
                <a:cs typeface="Calibri" pitchFamily="34" charset="-120"/>
              </a:rPr>
              <a:t>That last step is the expensive one.</a:t>
            </a:r>
            <a:endParaRPr lang="en-US" sz="1450" dirty="0"/>
          </a:p>
        </p:txBody>
      </p:sp>
      <p:sp>
        <p:nvSpPr>
          <p:cNvPr id="6" name="Shape 4"/>
          <p:cNvSpPr/>
          <p:nvPr/>
        </p:nvSpPr>
        <p:spPr>
          <a:xfrm>
            <a:off x="4069080" y="1371600"/>
            <a:ext cx="2212848" cy="1627632"/>
          </a:xfrm>
          <a:prstGeom prst="roundRect">
            <a:avLst>
              <a:gd name="adj" fmla="val 5056"/>
            </a:avLst>
          </a:prstGeom>
          <a:solidFill>
            <a:srgbClr val="E9F0FB"/>
          </a:solidFill>
          <a:ln/>
        </p:spPr>
        <p:txBody>
          <a:bodyPr/>
          <a:lstStyle/>
          <a:p>
            <a:endParaRPr lang="en-US"/>
          </a:p>
        </p:txBody>
      </p:sp>
      <p:sp>
        <p:nvSpPr>
          <p:cNvPr id="7" name="Shape 5"/>
          <p:cNvSpPr/>
          <p:nvPr/>
        </p:nvSpPr>
        <p:spPr>
          <a:xfrm>
            <a:off x="4270248" y="1554480"/>
            <a:ext cx="475488" cy="475488"/>
          </a:xfrm>
          <a:prstGeom prst="ellipse">
            <a:avLst/>
          </a:prstGeom>
          <a:solidFill>
            <a:srgbClr val="2563EB"/>
          </a:solidFill>
          <a:ln/>
        </p:spPr>
        <p:txBody>
          <a:bodyPr/>
          <a:lstStyle/>
          <a:p>
            <a:endParaRPr lang="en-US"/>
          </a:p>
        </p:txBody>
      </p:sp>
      <p:pic>
        <p:nvPicPr>
          <p:cNvPr id="8" name="Image 0" descr="assets/icons/book_w.png"/>
          <p:cNvPicPr>
            <a:picLocks noChangeAspect="1"/>
          </p:cNvPicPr>
          <p:nvPr/>
        </p:nvPicPr>
        <p:blipFill>
          <a:blip r:embed="rId3"/>
          <a:stretch>
            <a:fillRect/>
          </a:stretch>
        </p:blipFill>
        <p:spPr>
          <a:xfrm>
            <a:off x="4398630" y="1682862"/>
            <a:ext cx="218724" cy="218724"/>
          </a:xfrm>
          <a:prstGeom prst="rect">
            <a:avLst/>
          </a:prstGeom>
        </p:spPr>
      </p:pic>
      <p:sp>
        <p:nvSpPr>
          <p:cNvPr id="9" name="Text 6"/>
          <p:cNvSpPr/>
          <p:nvPr/>
        </p:nvSpPr>
        <p:spPr>
          <a:xfrm>
            <a:off x="4270248" y="2121408"/>
            <a:ext cx="182880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Long manuals</a:t>
            </a:r>
            <a:endParaRPr lang="en-US" sz="1350" dirty="0"/>
          </a:p>
        </p:txBody>
      </p:sp>
      <p:sp>
        <p:nvSpPr>
          <p:cNvPr id="10" name="Text 7"/>
          <p:cNvSpPr/>
          <p:nvPr/>
        </p:nvSpPr>
        <p:spPr>
          <a:xfrm>
            <a:off x="4270248" y="2377440"/>
            <a:ext cx="1874520" cy="548640"/>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The fix is on page 63 and nobody reads that far.</a:t>
            </a:r>
            <a:endParaRPr lang="en-US" sz="1050" dirty="0"/>
          </a:p>
        </p:txBody>
      </p:sp>
      <p:sp>
        <p:nvSpPr>
          <p:cNvPr id="11" name="Shape 8"/>
          <p:cNvSpPr/>
          <p:nvPr/>
        </p:nvSpPr>
        <p:spPr>
          <a:xfrm>
            <a:off x="6446520" y="1371600"/>
            <a:ext cx="2212848" cy="1627632"/>
          </a:xfrm>
          <a:prstGeom prst="roundRect">
            <a:avLst>
              <a:gd name="adj" fmla="val 5056"/>
            </a:avLst>
          </a:prstGeom>
          <a:solidFill>
            <a:srgbClr val="E9F0FB"/>
          </a:solidFill>
          <a:ln/>
        </p:spPr>
        <p:txBody>
          <a:bodyPr/>
          <a:lstStyle/>
          <a:p>
            <a:endParaRPr lang="en-US"/>
          </a:p>
        </p:txBody>
      </p:sp>
      <p:sp>
        <p:nvSpPr>
          <p:cNvPr id="12" name="Shape 9"/>
          <p:cNvSpPr/>
          <p:nvPr/>
        </p:nvSpPr>
        <p:spPr>
          <a:xfrm>
            <a:off x="6647688" y="1554480"/>
            <a:ext cx="475488" cy="475488"/>
          </a:xfrm>
          <a:prstGeom prst="ellipse">
            <a:avLst/>
          </a:prstGeom>
          <a:solidFill>
            <a:srgbClr val="2563EB"/>
          </a:solidFill>
          <a:ln/>
        </p:spPr>
        <p:txBody>
          <a:bodyPr/>
          <a:lstStyle/>
          <a:p>
            <a:endParaRPr lang="en-US"/>
          </a:p>
        </p:txBody>
      </p:sp>
      <p:pic>
        <p:nvPicPr>
          <p:cNvPr id="13" name="Image 1" descr="assets/icons/globe_w.png"/>
          <p:cNvPicPr>
            <a:picLocks noChangeAspect="1"/>
          </p:cNvPicPr>
          <p:nvPr/>
        </p:nvPicPr>
        <p:blipFill>
          <a:blip r:embed="rId4"/>
          <a:stretch>
            <a:fillRect/>
          </a:stretch>
        </p:blipFill>
        <p:spPr>
          <a:xfrm>
            <a:off x="6776070" y="1682862"/>
            <a:ext cx="218724" cy="218724"/>
          </a:xfrm>
          <a:prstGeom prst="rect">
            <a:avLst/>
          </a:prstGeom>
        </p:spPr>
      </p:pic>
      <p:sp>
        <p:nvSpPr>
          <p:cNvPr id="14" name="Text 10"/>
          <p:cNvSpPr/>
          <p:nvPr/>
        </p:nvSpPr>
        <p:spPr>
          <a:xfrm>
            <a:off x="6647688" y="2121408"/>
            <a:ext cx="182880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Scattered pages</a:t>
            </a:r>
            <a:endParaRPr lang="en-US" sz="1350" dirty="0"/>
          </a:p>
        </p:txBody>
      </p:sp>
      <p:sp>
        <p:nvSpPr>
          <p:cNvPr id="15" name="Text 11"/>
          <p:cNvSpPr/>
          <p:nvPr/>
        </p:nvSpPr>
        <p:spPr>
          <a:xfrm>
            <a:off x="6647688" y="2377440"/>
            <a:ext cx="1874520" cy="548640"/>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One problem, five support links, no clear path.</a:t>
            </a:r>
            <a:endParaRPr lang="en-US" sz="1050" dirty="0"/>
          </a:p>
        </p:txBody>
      </p:sp>
      <p:sp>
        <p:nvSpPr>
          <p:cNvPr id="16" name="Shape 12"/>
          <p:cNvSpPr/>
          <p:nvPr/>
        </p:nvSpPr>
        <p:spPr>
          <a:xfrm>
            <a:off x="4069080" y="3154680"/>
            <a:ext cx="2212848" cy="1627632"/>
          </a:xfrm>
          <a:prstGeom prst="roundRect">
            <a:avLst>
              <a:gd name="adj" fmla="val 5056"/>
            </a:avLst>
          </a:prstGeom>
          <a:solidFill>
            <a:srgbClr val="E9F0FB"/>
          </a:solidFill>
          <a:ln/>
        </p:spPr>
        <p:txBody>
          <a:bodyPr/>
          <a:lstStyle/>
          <a:p>
            <a:endParaRPr lang="en-US"/>
          </a:p>
        </p:txBody>
      </p:sp>
      <p:sp>
        <p:nvSpPr>
          <p:cNvPr id="17" name="Shape 13"/>
          <p:cNvSpPr/>
          <p:nvPr/>
        </p:nvSpPr>
        <p:spPr>
          <a:xfrm>
            <a:off x="4270248" y="3337560"/>
            <a:ext cx="475488" cy="475488"/>
          </a:xfrm>
          <a:prstGeom prst="ellipse">
            <a:avLst/>
          </a:prstGeom>
          <a:solidFill>
            <a:srgbClr val="2563EB"/>
          </a:solidFill>
          <a:ln/>
        </p:spPr>
        <p:txBody>
          <a:bodyPr/>
          <a:lstStyle/>
          <a:p>
            <a:endParaRPr lang="en-US"/>
          </a:p>
        </p:txBody>
      </p:sp>
      <p:pic>
        <p:nvPicPr>
          <p:cNvPr id="18" name="Image 2" descr="assets/icons/robot_w.png"/>
          <p:cNvPicPr>
            <a:picLocks noChangeAspect="1"/>
          </p:cNvPicPr>
          <p:nvPr/>
        </p:nvPicPr>
        <p:blipFill>
          <a:blip r:embed="rId5"/>
          <a:stretch>
            <a:fillRect/>
          </a:stretch>
        </p:blipFill>
        <p:spPr>
          <a:xfrm>
            <a:off x="4398630" y="3465942"/>
            <a:ext cx="218724" cy="218724"/>
          </a:xfrm>
          <a:prstGeom prst="rect">
            <a:avLst/>
          </a:prstGeom>
        </p:spPr>
      </p:pic>
      <p:sp>
        <p:nvSpPr>
          <p:cNvPr id="19" name="Text 14"/>
          <p:cNvSpPr/>
          <p:nvPr/>
        </p:nvSpPr>
        <p:spPr>
          <a:xfrm>
            <a:off x="4270248" y="3904488"/>
            <a:ext cx="182880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Confident guesses</a:t>
            </a:r>
            <a:endParaRPr lang="en-US" sz="1350" dirty="0"/>
          </a:p>
        </p:txBody>
      </p:sp>
      <p:sp>
        <p:nvSpPr>
          <p:cNvPr id="20" name="Text 15"/>
          <p:cNvSpPr/>
          <p:nvPr/>
        </p:nvSpPr>
        <p:spPr>
          <a:xfrm>
            <a:off x="4270248" y="4160520"/>
            <a:ext cx="1874520" cy="548640"/>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General chatbots answer even when they do not know.</a:t>
            </a:r>
            <a:endParaRPr lang="en-US" sz="1050" dirty="0"/>
          </a:p>
        </p:txBody>
      </p:sp>
      <p:sp>
        <p:nvSpPr>
          <p:cNvPr id="21" name="Shape 16"/>
          <p:cNvSpPr/>
          <p:nvPr/>
        </p:nvSpPr>
        <p:spPr>
          <a:xfrm>
            <a:off x="6446520" y="3154680"/>
            <a:ext cx="2212848" cy="1627632"/>
          </a:xfrm>
          <a:prstGeom prst="roundRect">
            <a:avLst>
              <a:gd name="adj" fmla="val 5056"/>
            </a:avLst>
          </a:prstGeom>
          <a:solidFill>
            <a:srgbClr val="E9F0FB"/>
          </a:solidFill>
          <a:ln/>
        </p:spPr>
        <p:txBody>
          <a:bodyPr/>
          <a:lstStyle/>
          <a:p>
            <a:endParaRPr lang="en-US"/>
          </a:p>
        </p:txBody>
      </p:sp>
      <p:sp>
        <p:nvSpPr>
          <p:cNvPr id="22" name="Shape 17"/>
          <p:cNvSpPr/>
          <p:nvPr/>
        </p:nvSpPr>
        <p:spPr>
          <a:xfrm>
            <a:off x="6647688" y="3337560"/>
            <a:ext cx="475488" cy="475488"/>
          </a:xfrm>
          <a:prstGeom prst="ellipse">
            <a:avLst/>
          </a:prstGeom>
          <a:solidFill>
            <a:srgbClr val="2563EB"/>
          </a:solidFill>
          <a:ln/>
        </p:spPr>
        <p:txBody>
          <a:bodyPr/>
          <a:lstStyle/>
          <a:p>
            <a:endParaRPr lang="en-US"/>
          </a:p>
        </p:txBody>
      </p:sp>
      <p:pic>
        <p:nvPicPr>
          <p:cNvPr id="23" name="Image 3" descr="assets/icons/dollar_w.png"/>
          <p:cNvPicPr>
            <a:picLocks noChangeAspect="1"/>
          </p:cNvPicPr>
          <p:nvPr/>
        </p:nvPicPr>
        <p:blipFill>
          <a:blip r:embed="rId6"/>
          <a:stretch>
            <a:fillRect/>
          </a:stretch>
        </p:blipFill>
        <p:spPr>
          <a:xfrm>
            <a:off x="6776070" y="3465942"/>
            <a:ext cx="218724" cy="218724"/>
          </a:xfrm>
          <a:prstGeom prst="rect">
            <a:avLst/>
          </a:prstGeom>
        </p:spPr>
      </p:pic>
      <p:sp>
        <p:nvSpPr>
          <p:cNvPr id="24" name="Text 18"/>
          <p:cNvSpPr/>
          <p:nvPr/>
        </p:nvSpPr>
        <p:spPr>
          <a:xfrm>
            <a:off x="6647688" y="3904488"/>
            <a:ext cx="182880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A costly fallback</a:t>
            </a:r>
            <a:endParaRPr lang="en-US" sz="1350" dirty="0"/>
          </a:p>
        </p:txBody>
      </p:sp>
      <p:sp>
        <p:nvSpPr>
          <p:cNvPr id="25" name="Text 19"/>
          <p:cNvSpPr/>
          <p:nvPr/>
        </p:nvSpPr>
        <p:spPr>
          <a:xfrm>
            <a:off x="6647688" y="4160520"/>
            <a:ext cx="1874520" cy="548640"/>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When search fails, people pay for a service visit.</a:t>
            </a:r>
            <a:endParaRPr lang="en-US" sz="1050" dirty="0"/>
          </a:p>
        </p:txBody>
      </p:sp>
      <p:sp>
        <p:nvSpPr>
          <p:cNvPr id="26" name="Text 20"/>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FROM A TECHNICAL CASE TO A BUSINESS CASE</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A good answer is worth real money</a:t>
            </a:r>
            <a:endParaRPr lang="en-US" sz="2700" dirty="0"/>
          </a:p>
        </p:txBody>
      </p:sp>
      <p:sp>
        <p:nvSpPr>
          <p:cNvPr id="4" name="Shape 2"/>
          <p:cNvSpPr/>
          <p:nvPr/>
        </p:nvSpPr>
        <p:spPr>
          <a:xfrm>
            <a:off x="502920" y="1417320"/>
            <a:ext cx="2606040" cy="2148840"/>
          </a:xfrm>
          <a:prstGeom prst="roundRect">
            <a:avLst>
              <a:gd name="adj" fmla="val 4255"/>
            </a:avLst>
          </a:prstGeom>
          <a:solidFill>
            <a:srgbClr val="E9F0FB"/>
          </a:solidFill>
          <a:ln/>
        </p:spPr>
        <p:txBody>
          <a:bodyPr/>
          <a:lstStyle/>
          <a:p>
            <a:endParaRPr lang="en-US"/>
          </a:p>
        </p:txBody>
      </p:sp>
      <p:sp>
        <p:nvSpPr>
          <p:cNvPr id="5" name="Text 3"/>
          <p:cNvSpPr/>
          <p:nvPr/>
        </p:nvSpPr>
        <p:spPr>
          <a:xfrm>
            <a:off x="731520" y="1645920"/>
            <a:ext cx="2194560" cy="685800"/>
          </a:xfrm>
          <a:prstGeom prst="rect">
            <a:avLst/>
          </a:prstGeom>
          <a:noFill/>
          <a:ln/>
        </p:spPr>
        <p:txBody>
          <a:bodyPr wrap="square" lIns="0" tIns="0" rIns="0" bIns="0" rtlCol="0" anchor="ctr"/>
          <a:lstStyle/>
          <a:p>
            <a:pPr marL="0" indent="0">
              <a:buNone/>
            </a:pPr>
            <a:r>
              <a:rPr lang="en-US" sz="3400" b="1" dirty="0">
                <a:solidFill>
                  <a:srgbClr val="2563EB"/>
                </a:solidFill>
                <a:latin typeface="Cambria" pitchFamily="34" charset="0"/>
                <a:ea typeface="Cambria" pitchFamily="34" charset="-122"/>
                <a:cs typeface="Cambria" pitchFamily="34" charset="-120"/>
              </a:rPr>
              <a:t>$70 to $130</a:t>
            </a:r>
            <a:endParaRPr lang="en-US" sz="3400" dirty="0"/>
          </a:p>
        </p:txBody>
      </p:sp>
      <p:sp>
        <p:nvSpPr>
          <p:cNvPr id="6" name="Text 4"/>
          <p:cNvSpPr/>
          <p:nvPr/>
        </p:nvSpPr>
        <p:spPr>
          <a:xfrm>
            <a:off x="731520" y="2377440"/>
            <a:ext cx="2194560" cy="777240"/>
          </a:xfrm>
          <a:prstGeom prst="rect">
            <a:avLst/>
          </a:prstGeom>
          <a:noFill/>
          <a:ln/>
        </p:spPr>
        <p:txBody>
          <a:bodyPr wrap="square" lIns="0" tIns="0" rIns="0" bIns="0" rtlCol="0" anchor="ctr"/>
          <a:lstStyle/>
          <a:p>
            <a:pPr marL="0" indent="0">
              <a:buNone/>
            </a:pPr>
            <a:r>
              <a:rPr lang="en-US" sz="1250" dirty="0">
                <a:solidFill>
                  <a:srgbClr val="33415C"/>
                </a:solidFill>
                <a:latin typeface="Calibri" pitchFamily="34" charset="0"/>
                <a:ea typeface="Calibri" pitchFamily="34" charset="-122"/>
                <a:cs typeface="Calibri" pitchFamily="34" charset="-120"/>
              </a:rPr>
              <a:t>Service call fee for a visit, before any repair work starts</a:t>
            </a:r>
            <a:endParaRPr lang="en-US" sz="1250" dirty="0"/>
          </a:p>
        </p:txBody>
      </p:sp>
      <p:sp>
        <p:nvSpPr>
          <p:cNvPr id="7" name="Text 5"/>
          <p:cNvSpPr/>
          <p:nvPr/>
        </p:nvSpPr>
        <p:spPr>
          <a:xfrm>
            <a:off x="731520" y="3200400"/>
            <a:ext cx="219456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HomeGuide, 2025</a:t>
            </a:r>
            <a:endParaRPr lang="en-US" sz="1000" dirty="0"/>
          </a:p>
        </p:txBody>
      </p:sp>
      <p:sp>
        <p:nvSpPr>
          <p:cNvPr id="8" name="Shape 6"/>
          <p:cNvSpPr/>
          <p:nvPr/>
        </p:nvSpPr>
        <p:spPr>
          <a:xfrm>
            <a:off x="3291840" y="1417320"/>
            <a:ext cx="2606040" cy="2148840"/>
          </a:xfrm>
          <a:prstGeom prst="roundRect">
            <a:avLst>
              <a:gd name="adj" fmla="val 4255"/>
            </a:avLst>
          </a:prstGeom>
          <a:solidFill>
            <a:srgbClr val="E9F0FB"/>
          </a:solidFill>
          <a:ln/>
        </p:spPr>
        <p:txBody>
          <a:bodyPr/>
          <a:lstStyle/>
          <a:p>
            <a:endParaRPr lang="en-US"/>
          </a:p>
        </p:txBody>
      </p:sp>
      <p:sp>
        <p:nvSpPr>
          <p:cNvPr id="9" name="Text 7"/>
          <p:cNvSpPr/>
          <p:nvPr/>
        </p:nvSpPr>
        <p:spPr>
          <a:xfrm>
            <a:off x="3520440" y="1645920"/>
            <a:ext cx="2194560" cy="685800"/>
          </a:xfrm>
          <a:prstGeom prst="rect">
            <a:avLst/>
          </a:prstGeom>
          <a:noFill/>
          <a:ln/>
        </p:spPr>
        <p:txBody>
          <a:bodyPr wrap="square" lIns="0" tIns="0" rIns="0" bIns="0" rtlCol="0" anchor="ctr"/>
          <a:lstStyle/>
          <a:p>
            <a:pPr marL="0" indent="0">
              <a:buNone/>
            </a:pPr>
            <a:r>
              <a:rPr lang="en-US" sz="3400" b="1" dirty="0">
                <a:solidFill>
                  <a:srgbClr val="2563EB"/>
                </a:solidFill>
                <a:latin typeface="Cambria" pitchFamily="34" charset="0"/>
                <a:ea typeface="Cambria" pitchFamily="34" charset="-122"/>
                <a:cs typeface="Cambria" pitchFamily="34" charset="-120"/>
              </a:rPr>
              <a:t>$179</a:t>
            </a:r>
            <a:endParaRPr lang="en-US" sz="3400" dirty="0"/>
          </a:p>
        </p:txBody>
      </p:sp>
      <p:sp>
        <p:nvSpPr>
          <p:cNvPr id="10" name="Text 8"/>
          <p:cNvSpPr/>
          <p:nvPr/>
        </p:nvSpPr>
        <p:spPr>
          <a:xfrm>
            <a:off x="3520440" y="2377440"/>
            <a:ext cx="2194560" cy="777240"/>
          </a:xfrm>
          <a:prstGeom prst="rect">
            <a:avLst/>
          </a:prstGeom>
          <a:noFill/>
          <a:ln/>
        </p:spPr>
        <p:txBody>
          <a:bodyPr wrap="square" lIns="0" tIns="0" rIns="0" bIns="0" rtlCol="0" anchor="ctr"/>
          <a:lstStyle/>
          <a:p>
            <a:pPr marL="0" indent="0">
              <a:buNone/>
            </a:pPr>
            <a:r>
              <a:rPr lang="en-US" sz="1250" dirty="0">
                <a:solidFill>
                  <a:srgbClr val="33415C"/>
                </a:solidFill>
                <a:latin typeface="Calibri" pitchFamily="34" charset="0"/>
                <a:ea typeface="Calibri" pitchFamily="34" charset="-122"/>
                <a:cs typeface="Calibri" pitchFamily="34" charset="-120"/>
              </a:rPr>
              <a:t>Average total bill for a home appliance repair</a:t>
            </a:r>
            <a:endParaRPr lang="en-US" sz="1250" dirty="0"/>
          </a:p>
        </p:txBody>
      </p:sp>
      <p:sp>
        <p:nvSpPr>
          <p:cNvPr id="11" name="Text 9"/>
          <p:cNvSpPr/>
          <p:nvPr/>
        </p:nvSpPr>
        <p:spPr>
          <a:xfrm>
            <a:off x="3520440" y="3200400"/>
            <a:ext cx="219456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HomeAdvisor, 2025</a:t>
            </a:r>
            <a:endParaRPr lang="en-US" sz="1000" dirty="0"/>
          </a:p>
        </p:txBody>
      </p:sp>
      <p:sp>
        <p:nvSpPr>
          <p:cNvPr id="12" name="Shape 10"/>
          <p:cNvSpPr/>
          <p:nvPr/>
        </p:nvSpPr>
        <p:spPr>
          <a:xfrm>
            <a:off x="6080760" y="1417320"/>
            <a:ext cx="2606040" cy="2148840"/>
          </a:xfrm>
          <a:prstGeom prst="roundRect">
            <a:avLst>
              <a:gd name="adj" fmla="val 4255"/>
            </a:avLst>
          </a:prstGeom>
          <a:solidFill>
            <a:srgbClr val="1B2A4A"/>
          </a:solidFill>
          <a:ln/>
        </p:spPr>
        <p:txBody>
          <a:bodyPr/>
          <a:lstStyle/>
          <a:p>
            <a:endParaRPr lang="en-US"/>
          </a:p>
        </p:txBody>
      </p:sp>
      <p:sp>
        <p:nvSpPr>
          <p:cNvPr id="13" name="Text 11"/>
          <p:cNvSpPr/>
          <p:nvPr/>
        </p:nvSpPr>
        <p:spPr>
          <a:xfrm>
            <a:off x="6309360" y="1645920"/>
            <a:ext cx="21945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2.1 s</a:t>
            </a:r>
            <a:endParaRPr lang="en-US" sz="3400" dirty="0"/>
          </a:p>
        </p:txBody>
      </p:sp>
      <p:sp>
        <p:nvSpPr>
          <p:cNvPr id="14" name="Text 12"/>
          <p:cNvSpPr/>
          <p:nvPr/>
        </p:nvSpPr>
        <p:spPr>
          <a:xfrm>
            <a:off x="6309360" y="2377440"/>
            <a:ext cx="2194560" cy="777240"/>
          </a:xfrm>
          <a:prstGeom prst="rect">
            <a:avLst/>
          </a:prstGeom>
          <a:noFill/>
          <a:ln/>
        </p:spPr>
        <p:txBody>
          <a:bodyPr wrap="square" lIns="0" tIns="0" rIns="0" bIns="0" rtlCol="0" anchor="ctr"/>
          <a:lstStyle/>
          <a:p>
            <a:pPr marL="0" indent="0">
              <a:buNone/>
            </a:pPr>
            <a:r>
              <a:rPr lang="en-US" sz="1250" dirty="0">
                <a:solidFill>
                  <a:srgbClr val="D7E3F6"/>
                </a:solidFill>
                <a:latin typeface="Calibri" pitchFamily="34" charset="0"/>
                <a:ea typeface="Calibri" pitchFamily="34" charset="-122"/>
                <a:cs typeface="Calibri" pitchFamily="34" charset="-120"/>
              </a:rPr>
              <a:t>Median time for ApplianceAI to return a cited answer</a:t>
            </a:r>
            <a:endParaRPr lang="en-US" sz="1250" dirty="0"/>
          </a:p>
        </p:txBody>
      </p:sp>
      <p:sp>
        <p:nvSpPr>
          <p:cNvPr id="15" name="Text 13"/>
          <p:cNvSpPr/>
          <p:nvPr/>
        </p:nvSpPr>
        <p:spPr>
          <a:xfrm>
            <a:off x="6309360" y="3200400"/>
            <a:ext cx="2194560" cy="274320"/>
          </a:xfrm>
          <a:prstGeom prst="rect">
            <a:avLst/>
          </a:prstGeom>
          <a:noFill/>
          <a:ln/>
        </p:spPr>
        <p:txBody>
          <a:bodyPr wrap="square" lIns="0" tIns="0" rIns="0" bIns="0" rtlCol="0" anchor="ctr"/>
          <a:lstStyle/>
          <a:p>
            <a:pPr marL="0" indent="0">
              <a:buNone/>
            </a:pPr>
            <a:r>
              <a:rPr lang="en-US" sz="1000" i="1" dirty="0">
                <a:solidFill>
                  <a:srgbClr val="8FA6CE"/>
                </a:solidFill>
                <a:latin typeface="Calibri" pitchFamily="34" charset="0"/>
                <a:ea typeface="Calibri" pitchFamily="34" charset="-122"/>
                <a:cs typeface="Calibri" pitchFamily="34" charset="-120"/>
              </a:rPr>
              <a:t>Our test runs</a:t>
            </a:r>
            <a:endParaRPr lang="en-US" sz="1000" dirty="0"/>
          </a:p>
        </p:txBody>
      </p:sp>
      <p:sp>
        <p:nvSpPr>
          <p:cNvPr id="16" name="Shape 14"/>
          <p:cNvSpPr/>
          <p:nvPr/>
        </p:nvSpPr>
        <p:spPr>
          <a:xfrm>
            <a:off x="502920" y="3977640"/>
            <a:ext cx="457200" cy="457200"/>
          </a:xfrm>
          <a:prstGeom prst="ellipse">
            <a:avLst/>
          </a:prstGeom>
          <a:solidFill>
            <a:srgbClr val="F59E0B"/>
          </a:solidFill>
          <a:ln/>
        </p:spPr>
        <p:txBody>
          <a:bodyPr/>
          <a:lstStyle/>
          <a:p>
            <a:endParaRPr lang="en-US"/>
          </a:p>
        </p:txBody>
      </p:sp>
      <p:pic>
        <p:nvPicPr>
          <p:cNvPr id="17" name="Image 0" descr="assets/icons/bolt_w.png"/>
          <p:cNvPicPr>
            <a:picLocks noChangeAspect="1"/>
          </p:cNvPicPr>
          <p:nvPr/>
        </p:nvPicPr>
        <p:blipFill>
          <a:blip r:embed="rId3"/>
          <a:stretch>
            <a:fillRect/>
          </a:stretch>
        </p:blipFill>
        <p:spPr>
          <a:xfrm>
            <a:off x="626364" y="4101084"/>
            <a:ext cx="210312" cy="210312"/>
          </a:xfrm>
          <a:prstGeom prst="rect">
            <a:avLst/>
          </a:prstGeom>
        </p:spPr>
      </p:pic>
      <p:sp>
        <p:nvSpPr>
          <p:cNvPr id="18" name="Text 15"/>
          <p:cNvSpPr/>
          <p:nvPr/>
        </p:nvSpPr>
        <p:spPr>
          <a:xfrm>
            <a:off x="1143000" y="3913632"/>
            <a:ext cx="7498080" cy="685800"/>
          </a:xfrm>
          <a:prstGeom prst="rect">
            <a:avLst/>
          </a:prstGeom>
          <a:noFill/>
          <a:ln/>
        </p:spPr>
        <p:txBody>
          <a:bodyPr wrap="square" lIns="0" tIns="0" rIns="0" bIns="0" rtlCol="0" anchor="ctr"/>
          <a:lstStyle/>
          <a:p>
            <a:pPr marL="0" indent="0">
              <a:buNone/>
            </a:pPr>
            <a:r>
              <a:rPr lang="en-US" sz="1350" dirty="0">
                <a:solidFill>
                  <a:srgbClr val="33415C"/>
                </a:solidFill>
                <a:latin typeface="Calibri" pitchFamily="34" charset="0"/>
                <a:ea typeface="Calibri" pitchFamily="34" charset="-122"/>
                <a:cs typeface="Calibri" pitchFamily="34" charset="-120"/>
              </a:rPr>
              <a:t>Many visits end with a small fix like a reset, a clogged filter, or a tripped breaker. Each one a household solves at home covers the cost of running this tool many times over.</a:t>
            </a:r>
            <a:endParaRPr lang="en-US" sz="1350" dirty="0"/>
          </a:p>
        </p:txBody>
      </p:sp>
      <p:sp>
        <p:nvSpPr>
          <p:cNvPr id="19" name="Text 16"/>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THE PRODUCT</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ApplianceAI in one look</a:t>
            </a:r>
            <a:endParaRPr lang="en-US" sz="2700" dirty="0"/>
          </a:p>
        </p:txBody>
      </p:sp>
      <p:sp>
        <p:nvSpPr>
          <p:cNvPr id="4" name="Shape 2"/>
          <p:cNvSpPr/>
          <p:nvPr/>
        </p:nvSpPr>
        <p:spPr>
          <a:xfrm>
            <a:off x="3611880" y="1371600"/>
            <a:ext cx="5138928" cy="2423160"/>
          </a:xfrm>
          <a:prstGeom prst="roundRect">
            <a:avLst>
              <a:gd name="adj" fmla="val 3019"/>
            </a:avLst>
          </a:prstGeom>
          <a:solidFill>
            <a:srgbClr val="D7E3F6"/>
          </a:solidFill>
          <a:ln/>
          <a:effectLst>
            <a:outerShdw blurRad="101600" dist="38100" dir="5400000" algn="bl" rotWithShape="0">
              <a:srgbClr val="9AA9C4">
                <a:alpha val="40000"/>
              </a:srgbClr>
            </a:outerShdw>
          </a:effectLst>
        </p:spPr>
        <p:txBody>
          <a:bodyPr/>
          <a:lstStyle/>
          <a:p>
            <a:endParaRPr lang="en-US"/>
          </a:p>
        </p:txBody>
      </p:sp>
      <p:pic>
        <p:nvPicPr>
          <p:cNvPr id="5" name="Image 0" descr="assets/landing.png"/>
          <p:cNvPicPr>
            <a:picLocks noChangeAspect="1"/>
          </p:cNvPicPr>
          <p:nvPr/>
        </p:nvPicPr>
        <p:blipFill>
          <a:blip r:embed="rId3"/>
          <a:stretch>
            <a:fillRect/>
          </a:stretch>
        </p:blipFill>
        <p:spPr>
          <a:xfrm>
            <a:off x="3730752" y="1536192"/>
            <a:ext cx="4901184" cy="2203704"/>
          </a:xfrm>
          <a:prstGeom prst="rect">
            <a:avLst/>
          </a:prstGeom>
        </p:spPr>
      </p:pic>
      <p:sp>
        <p:nvSpPr>
          <p:cNvPr id="6" name="Text 3"/>
          <p:cNvSpPr/>
          <p:nvPr/>
        </p:nvSpPr>
        <p:spPr>
          <a:xfrm>
            <a:off x="3639312" y="3931920"/>
            <a:ext cx="5074920" cy="548640"/>
          </a:xfrm>
          <a:prstGeom prst="rect">
            <a:avLst/>
          </a:prstGeom>
          <a:noFill/>
          <a:ln/>
        </p:spPr>
        <p:txBody>
          <a:bodyPr wrap="square" lIns="0" tIns="0" rIns="0" bIns="0"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Live demo runs on Streamlit with a FastAPI backend. The model is Qwen2.5 served locally through Ollama.</a:t>
            </a:r>
            <a:endParaRPr lang="en-US" sz="1150" dirty="0"/>
          </a:p>
        </p:txBody>
      </p:sp>
      <p:sp>
        <p:nvSpPr>
          <p:cNvPr id="7" name="Shape 4"/>
          <p:cNvSpPr/>
          <p:nvPr/>
        </p:nvSpPr>
        <p:spPr>
          <a:xfrm>
            <a:off x="502920" y="1371600"/>
            <a:ext cx="512064" cy="512064"/>
          </a:xfrm>
          <a:prstGeom prst="ellipse">
            <a:avLst/>
          </a:prstGeom>
          <a:solidFill>
            <a:srgbClr val="2563EB"/>
          </a:solidFill>
          <a:ln/>
        </p:spPr>
        <p:txBody>
          <a:bodyPr/>
          <a:lstStyle/>
          <a:p>
            <a:endParaRPr lang="en-US"/>
          </a:p>
        </p:txBody>
      </p:sp>
      <p:pic>
        <p:nvPicPr>
          <p:cNvPr id="8" name="Image 1" descr="assets/icons/comments_w.png"/>
          <p:cNvPicPr>
            <a:picLocks noChangeAspect="1"/>
          </p:cNvPicPr>
          <p:nvPr/>
        </p:nvPicPr>
        <p:blipFill>
          <a:blip r:embed="rId4"/>
          <a:stretch>
            <a:fillRect/>
          </a:stretch>
        </p:blipFill>
        <p:spPr>
          <a:xfrm>
            <a:off x="641177" y="1509857"/>
            <a:ext cx="235549" cy="235549"/>
          </a:xfrm>
          <a:prstGeom prst="rect">
            <a:avLst/>
          </a:prstGeom>
        </p:spPr>
      </p:pic>
      <p:sp>
        <p:nvSpPr>
          <p:cNvPr id="9" name="Text 5"/>
          <p:cNvSpPr/>
          <p:nvPr/>
        </p:nvSpPr>
        <p:spPr>
          <a:xfrm>
            <a:off x="1188720" y="1353312"/>
            <a:ext cx="237744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Asks before it answers</a:t>
            </a:r>
            <a:endParaRPr lang="en-US" sz="1400" dirty="0"/>
          </a:p>
        </p:txBody>
      </p:sp>
      <p:sp>
        <p:nvSpPr>
          <p:cNvPr id="10" name="Text 6"/>
          <p:cNvSpPr/>
          <p:nvPr/>
        </p:nvSpPr>
        <p:spPr>
          <a:xfrm>
            <a:off x="1188720" y="1627632"/>
            <a:ext cx="2331720" cy="548640"/>
          </a:xfrm>
          <a:prstGeom prst="rect">
            <a:avLst/>
          </a:prstGeom>
          <a:noFill/>
          <a:ln/>
        </p:spPr>
        <p:txBody>
          <a:bodyPr wrap="square" lIns="0" tIns="0" rIns="0" bIns="0" rtlCol="0" anchor="ctr"/>
          <a:lstStyle/>
          <a:p>
            <a:pPr marL="0" indent="0">
              <a:buNone/>
            </a:pPr>
            <a:r>
              <a:rPr lang="en-US" sz="1150" dirty="0">
                <a:solidFill>
                  <a:srgbClr val="33415C"/>
                </a:solidFill>
                <a:latin typeface="Calibri" pitchFamily="34" charset="0"/>
                <a:ea typeface="Calibri" pitchFamily="34" charset="-122"/>
                <a:cs typeface="Calibri" pitchFamily="34" charset="-120"/>
              </a:rPr>
              <a:t>It collects brand, type and model first.</a:t>
            </a:r>
            <a:endParaRPr lang="en-US" sz="1150" dirty="0"/>
          </a:p>
        </p:txBody>
      </p:sp>
      <p:sp>
        <p:nvSpPr>
          <p:cNvPr id="11" name="Shape 7"/>
          <p:cNvSpPr/>
          <p:nvPr/>
        </p:nvSpPr>
        <p:spPr>
          <a:xfrm>
            <a:off x="502920" y="2423160"/>
            <a:ext cx="512064" cy="512064"/>
          </a:xfrm>
          <a:prstGeom prst="ellipse">
            <a:avLst/>
          </a:prstGeom>
          <a:solidFill>
            <a:srgbClr val="2563EB"/>
          </a:solidFill>
          <a:ln/>
        </p:spPr>
        <p:txBody>
          <a:bodyPr/>
          <a:lstStyle/>
          <a:p>
            <a:endParaRPr lang="en-US"/>
          </a:p>
        </p:txBody>
      </p:sp>
      <p:pic>
        <p:nvPicPr>
          <p:cNvPr id="12" name="Image 2" descr="assets/icons/book_w.png"/>
          <p:cNvPicPr>
            <a:picLocks noChangeAspect="1"/>
          </p:cNvPicPr>
          <p:nvPr/>
        </p:nvPicPr>
        <p:blipFill>
          <a:blip r:embed="rId5"/>
          <a:stretch>
            <a:fillRect/>
          </a:stretch>
        </p:blipFill>
        <p:spPr>
          <a:xfrm>
            <a:off x="641177" y="2561417"/>
            <a:ext cx="235549" cy="235549"/>
          </a:xfrm>
          <a:prstGeom prst="rect">
            <a:avLst/>
          </a:prstGeom>
        </p:spPr>
      </p:pic>
      <p:sp>
        <p:nvSpPr>
          <p:cNvPr id="13" name="Text 8"/>
          <p:cNvSpPr/>
          <p:nvPr/>
        </p:nvSpPr>
        <p:spPr>
          <a:xfrm>
            <a:off x="1188720" y="2404872"/>
            <a:ext cx="237744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Reads only official docs</a:t>
            </a:r>
            <a:endParaRPr lang="en-US" sz="1400" dirty="0"/>
          </a:p>
        </p:txBody>
      </p:sp>
      <p:sp>
        <p:nvSpPr>
          <p:cNvPr id="14" name="Text 9"/>
          <p:cNvSpPr/>
          <p:nvPr/>
        </p:nvSpPr>
        <p:spPr>
          <a:xfrm>
            <a:off x="1188720" y="2679192"/>
            <a:ext cx="2331720" cy="548640"/>
          </a:xfrm>
          <a:prstGeom prst="rect">
            <a:avLst/>
          </a:prstGeom>
          <a:noFill/>
          <a:ln/>
        </p:spPr>
        <p:txBody>
          <a:bodyPr wrap="square" lIns="0" tIns="0" rIns="0" bIns="0" rtlCol="0" anchor="ctr"/>
          <a:lstStyle/>
          <a:p>
            <a:pPr marL="0" indent="0">
              <a:buNone/>
            </a:pPr>
            <a:r>
              <a:rPr lang="en-US" sz="1150" dirty="0">
                <a:solidFill>
                  <a:srgbClr val="33415C"/>
                </a:solidFill>
                <a:latin typeface="Calibri" pitchFamily="34" charset="0"/>
                <a:ea typeface="Calibri" pitchFamily="34" charset="-122"/>
                <a:cs typeface="Calibri" pitchFamily="34" charset="-120"/>
              </a:rPr>
              <a:t>Whirlpool and GE support pages, nothing else.</a:t>
            </a:r>
            <a:endParaRPr lang="en-US" sz="1150" dirty="0"/>
          </a:p>
        </p:txBody>
      </p:sp>
      <p:sp>
        <p:nvSpPr>
          <p:cNvPr id="15" name="Shape 10"/>
          <p:cNvSpPr/>
          <p:nvPr/>
        </p:nvSpPr>
        <p:spPr>
          <a:xfrm>
            <a:off x="502920" y="3474720"/>
            <a:ext cx="512064" cy="512064"/>
          </a:xfrm>
          <a:prstGeom prst="ellipse">
            <a:avLst/>
          </a:prstGeom>
          <a:solidFill>
            <a:srgbClr val="2563EB"/>
          </a:solidFill>
          <a:ln/>
        </p:spPr>
        <p:txBody>
          <a:bodyPr/>
          <a:lstStyle/>
          <a:p>
            <a:endParaRPr lang="en-US"/>
          </a:p>
        </p:txBody>
      </p:sp>
      <p:pic>
        <p:nvPicPr>
          <p:cNvPr id="16" name="Image 3" descr="assets/icons/link_w.png"/>
          <p:cNvPicPr>
            <a:picLocks noChangeAspect="1"/>
          </p:cNvPicPr>
          <p:nvPr/>
        </p:nvPicPr>
        <p:blipFill>
          <a:blip r:embed="rId6"/>
          <a:stretch>
            <a:fillRect/>
          </a:stretch>
        </p:blipFill>
        <p:spPr>
          <a:xfrm>
            <a:off x="641177" y="3612977"/>
            <a:ext cx="235549" cy="235549"/>
          </a:xfrm>
          <a:prstGeom prst="rect">
            <a:avLst/>
          </a:prstGeom>
        </p:spPr>
      </p:pic>
      <p:sp>
        <p:nvSpPr>
          <p:cNvPr id="17" name="Text 11"/>
          <p:cNvSpPr/>
          <p:nvPr/>
        </p:nvSpPr>
        <p:spPr>
          <a:xfrm>
            <a:off x="1188720" y="3456432"/>
            <a:ext cx="237744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Cites every claim</a:t>
            </a:r>
            <a:endParaRPr lang="en-US" sz="1400" dirty="0"/>
          </a:p>
        </p:txBody>
      </p:sp>
      <p:sp>
        <p:nvSpPr>
          <p:cNvPr id="18" name="Text 12"/>
          <p:cNvSpPr/>
          <p:nvPr/>
        </p:nvSpPr>
        <p:spPr>
          <a:xfrm>
            <a:off x="1188720" y="3730752"/>
            <a:ext cx="2331720" cy="548640"/>
          </a:xfrm>
          <a:prstGeom prst="rect">
            <a:avLst/>
          </a:prstGeom>
          <a:noFill/>
          <a:ln/>
        </p:spPr>
        <p:txBody>
          <a:bodyPr wrap="square" lIns="0" tIns="0" rIns="0" bIns="0" rtlCol="0" anchor="ctr"/>
          <a:lstStyle/>
          <a:p>
            <a:pPr marL="0" indent="0">
              <a:buNone/>
            </a:pPr>
            <a:r>
              <a:rPr lang="en-US" sz="1150" dirty="0">
                <a:solidFill>
                  <a:srgbClr val="33415C"/>
                </a:solidFill>
                <a:latin typeface="Calibri" pitchFamily="34" charset="0"/>
                <a:ea typeface="Calibri" pitchFamily="34" charset="-122"/>
                <a:cs typeface="Calibri" pitchFamily="34" charset="-120"/>
              </a:rPr>
              <a:t>Each answer links to the page it came from.</a:t>
            </a:r>
            <a:endParaRPr lang="en-US" sz="1150" dirty="0"/>
          </a:p>
        </p:txBody>
      </p:sp>
      <p:sp>
        <p:nvSpPr>
          <p:cNvPr id="19" name="Text 1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Nine stages, one pipeline</a:t>
            </a:r>
            <a:endParaRPr lang="en-US" sz="2700" dirty="0"/>
          </a:p>
        </p:txBody>
      </p:sp>
      <p:sp>
        <p:nvSpPr>
          <p:cNvPr id="4" name="Shape 2"/>
          <p:cNvSpPr/>
          <p:nvPr/>
        </p:nvSpPr>
        <p:spPr>
          <a:xfrm>
            <a:off x="502920" y="1417320"/>
            <a:ext cx="1371600" cy="1170432"/>
          </a:xfrm>
          <a:prstGeom prst="roundRect">
            <a:avLst>
              <a:gd name="adj" fmla="val 6250"/>
            </a:avLst>
          </a:prstGeom>
          <a:solidFill>
            <a:srgbClr val="E9F0FB"/>
          </a:solidFill>
          <a:ln/>
        </p:spPr>
        <p:txBody>
          <a:bodyPr/>
          <a:lstStyle/>
          <a:p>
            <a:endParaRPr lang="en-US"/>
          </a:p>
        </p:txBody>
      </p:sp>
      <p:sp>
        <p:nvSpPr>
          <p:cNvPr id="5" name="Shape 3"/>
          <p:cNvSpPr/>
          <p:nvPr/>
        </p:nvSpPr>
        <p:spPr>
          <a:xfrm>
            <a:off x="630936" y="1545336"/>
            <a:ext cx="310896" cy="310896"/>
          </a:xfrm>
          <a:prstGeom prst="ellipse">
            <a:avLst/>
          </a:prstGeom>
          <a:solidFill>
            <a:srgbClr val="2563EB"/>
          </a:solidFill>
          <a:ln/>
        </p:spPr>
        <p:txBody>
          <a:bodyPr/>
          <a:lstStyle/>
          <a:p>
            <a:endParaRPr lang="en-US"/>
          </a:p>
        </p:txBody>
      </p:sp>
      <p:sp>
        <p:nvSpPr>
          <p:cNvPr id="6" name="Text 4"/>
          <p:cNvSpPr/>
          <p:nvPr/>
        </p:nvSpPr>
        <p:spPr>
          <a:xfrm>
            <a:off x="630936" y="154533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630936" y="1892808"/>
            <a:ext cx="1152144"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Scrape</a:t>
            </a:r>
            <a:endParaRPr lang="en-US" sz="1250" dirty="0"/>
          </a:p>
        </p:txBody>
      </p:sp>
      <p:sp>
        <p:nvSpPr>
          <p:cNvPr id="8" name="Text 6"/>
          <p:cNvSpPr/>
          <p:nvPr/>
        </p:nvSpPr>
        <p:spPr>
          <a:xfrm>
            <a:off x="630936" y="2148840"/>
            <a:ext cx="1152144" cy="402336"/>
          </a:xfrm>
          <a:prstGeom prst="rect">
            <a:avLst/>
          </a:prstGeom>
          <a:noFill/>
          <a:ln/>
        </p:spPr>
        <p:txBody>
          <a:bodyPr wrap="square" lIns="0" tIns="0" rIns="0" bIns="0" rtlCol="0" anchor="ctr"/>
          <a:lstStyle/>
          <a:p>
            <a:pPr marL="0" indent="0">
              <a:buNone/>
            </a:pPr>
            <a:r>
              <a:rPr lang="en-US" sz="900" dirty="0">
                <a:solidFill>
                  <a:srgbClr val="33415C"/>
                </a:solidFill>
                <a:latin typeface="Calibri" pitchFamily="34" charset="0"/>
                <a:ea typeface="Calibri" pitchFamily="34" charset="-122"/>
                <a:cs typeface="Calibri" pitchFamily="34" charset="-120"/>
              </a:rPr>
              <a:t>polite crawl, raw bytes saved</a:t>
            </a:r>
            <a:endParaRPr lang="en-US" sz="900" dirty="0"/>
          </a:p>
        </p:txBody>
      </p:sp>
      <p:sp>
        <p:nvSpPr>
          <p:cNvPr id="9" name="Text 7"/>
          <p:cNvSpPr/>
          <p:nvPr/>
        </p:nvSpPr>
        <p:spPr>
          <a:xfrm>
            <a:off x="1865376" y="1819656"/>
            <a:ext cx="32004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Calibri" pitchFamily="34" charset="0"/>
                <a:ea typeface="Calibri" pitchFamily="34" charset="-122"/>
                <a:cs typeface="Calibri" pitchFamily="34" charset="-120"/>
              </a:rPr>
              <a:t>&gt;</a:t>
            </a:r>
            <a:endParaRPr lang="en-US" sz="1600" dirty="0"/>
          </a:p>
        </p:txBody>
      </p:sp>
      <p:sp>
        <p:nvSpPr>
          <p:cNvPr id="10" name="Shape 8"/>
          <p:cNvSpPr/>
          <p:nvPr/>
        </p:nvSpPr>
        <p:spPr>
          <a:xfrm>
            <a:off x="2167128" y="1417320"/>
            <a:ext cx="1371600" cy="1170432"/>
          </a:xfrm>
          <a:prstGeom prst="roundRect">
            <a:avLst>
              <a:gd name="adj" fmla="val 6250"/>
            </a:avLst>
          </a:prstGeom>
          <a:solidFill>
            <a:srgbClr val="E9F0FB"/>
          </a:solidFill>
          <a:ln/>
        </p:spPr>
        <p:txBody>
          <a:bodyPr/>
          <a:lstStyle/>
          <a:p>
            <a:endParaRPr lang="en-US"/>
          </a:p>
        </p:txBody>
      </p:sp>
      <p:sp>
        <p:nvSpPr>
          <p:cNvPr id="11" name="Shape 9"/>
          <p:cNvSpPr/>
          <p:nvPr/>
        </p:nvSpPr>
        <p:spPr>
          <a:xfrm>
            <a:off x="2295144" y="1545336"/>
            <a:ext cx="310896" cy="310896"/>
          </a:xfrm>
          <a:prstGeom prst="ellipse">
            <a:avLst/>
          </a:prstGeom>
          <a:solidFill>
            <a:srgbClr val="2563EB"/>
          </a:solidFill>
          <a:ln/>
        </p:spPr>
        <p:txBody>
          <a:bodyPr/>
          <a:lstStyle/>
          <a:p>
            <a:endParaRPr lang="en-US"/>
          </a:p>
        </p:txBody>
      </p:sp>
      <p:sp>
        <p:nvSpPr>
          <p:cNvPr id="12" name="Text 10"/>
          <p:cNvSpPr/>
          <p:nvPr/>
        </p:nvSpPr>
        <p:spPr>
          <a:xfrm>
            <a:off x="2295144" y="154533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2295144" y="1892808"/>
            <a:ext cx="1152144"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Extract</a:t>
            </a:r>
            <a:endParaRPr lang="en-US" sz="1250" dirty="0"/>
          </a:p>
        </p:txBody>
      </p:sp>
      <p:sp>
        <p:nvSpPr>
          <p:cNvPr id="14" name="Text 12"/>
          <p:cNvSpPr/>
          <p:nvPr/>
        </p:nvSpPr>
        <p:spPr>
          <a:xfrm>
            <a:off x="2295144" y="2148840"/>
            <a:ext cx="1152144" cy="402336"/>
          </a:xfrm>
          <a:prstGeom prst="rect">
            <a:avLst/>
          </a:prstGeom>
          <a:noFill/>
          <a:ln/>
        </p:spPr>
        <p:txBody>
          <a:bodyPr wrap="square" lIns="0" tIns="0" rIns="0" bIns="0" rtlCol="0" anchor="ctr"/>
          <a:lstStyle/>
          <a:p>
            <a:pPr marL="0" indent="0">
              <a:buNone/>
            </a:pPr>
            <a:r>
              <a:rPr lang="en-US" sz="900" dirty="0">
                <a:solidFill>
                  <a:srgbClr val="33415C"/>
                </a:solidFill>
                <a:latin typeface="Calibri" pitchFamily="34" charset="0"/>
                <a:ea typeface="Calibri" pitchFamily="34" charset="-122"/>
                <a:cs typeface="Calibri" pitchFamily="34" charset="-120"/>
              </a:rPr>
              <a:t>strip menus, keep tables</a:t>
            </a:r>
            <a:endParaRPr lang="en-US" sz="900" dirty="0"/>
          </a:p>
        </p:txBody>
      </p:sp>
      <p:sp>
        <p:nvSpPr>
          <p:cNvPr id="15" name="Text 13"/>
          <p:cNvSpPr/>
          <p:nvPr/>
        </p:nvSpPr>
        <p:spPr>
          <a:xfrm>
            <a:off x="3529584" y="1819656"/>
            <a:ext cx="32004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Calibri" pitchFamily="34" charset="0"/>
                <a:ea typeface="Calibri" pitchFamily="34" charset="-122"/>
                <a:cs typeface="Calibri" pitchFamily="34" charset="-120"/>
              </a:rPr>
              <a:t>&gt;</a:t>
            </a:r>
            <a:endParaRPr lang="en-US" sz="1600" dirty="0"/>
          </a:p>
        </p:txBody>
      </p:sp>
      <p:sp>
        <p:nvSpPr>
          <p:cNvPr id="16" name="Shape 14"/>
          <p:cNvSpPr/>
          <p:nvPr/>
        </p:nvSpPr>
        <p:spPr>
          <a:xfrm>
            <a:off x="3831336" y="1417320"/>
            <a:ext cx="1371600" cy="1170432"/>
          </a:xfrm>
          <a:prstGeom prst="roundRect">
            <a:avLst>
              <a:gd name="adj" fmla="val 6250"/>
            </a:avLst>
          </a:prstGeom>
          <a:solidFill>
            <a:srgbClr val="E9F0FB"/>
          </a:solidFill>
          <a:ln/>
        </p:spPr>
        <p:txBody>
          <a:bodyPr/>
          <a:lstStyle/>
          <a:p>
            <a:endParaRPr lang="en-US"/>
          </a:p>
        </p:txBody>
      </p:sp>
      <p:sp>
        <p:nvSpPr>
          <p:cNvPr id="17" name="Shape 15"/>
          <p:cNvSpPr/>
          <p:nvPr/>
        </p:nvSpPr>
        <p:spPr>
          <a:xfrm>
            <a:off x="3959352" y="1545336"/>
            <a:ext cx="310896" cy="310896"/>
          </a:xfrm>
          <a:prstGeom prst="ellipse">
            <a:avLst/>
          </a:prstGeom>
          <a:solidFill>
            <a:srgbClr val="2563EB"/>
          </a:solidFill>
          <a:ln/>
        </p:spPr>
        <p:txBody>
          <a:bodyPr/>
          <a:lstStyle/>
          <a:p>
            <a:endParaRPr lang="en-US"/>
          </a:p>
        </p:txBody>
      </p:sp>
      <p:sp>
        <p:nvSpPr>
          <p:cNvPr id="18" name="Text 16"/>
          <p:cNvSpPr/>
          <p:nvPr/>
        </p:nvSpPr>
        <p:spPr>
          <a:xfrm>
            <a:off x="3959352" y="154533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3959352" y="1892808"/>
            <a:ext cx="1152144"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Chunk</a:t>
            </a:r>
            <a:endParaRPr lang="en-US" sz="1250" dirty="0"/>
          </a:p>
        </p:txBody>
      </p:sp>
      <p:sp>
        <p:nvSpPr>
          <p:cNvPr id="20" name="Text 18"/>
          <p:cNvSpPr/>
          <p:nvPr/>
        </p:nvSpPr>
        <p:spPr>
          <a:xfrm>
            <a:off x="3959352" y="2148840"/>
            <a:ext cx="1152144" cy="402336"/>
          </a:xfrm>
          <a:prstGeom prst="rect">
            <a:avLst/>
          </a:prstGeom>
          <a:noFill/>
          <a:ln/>
        </p:spPr>
        <p:txBody>
          <a:bodyPr wrap="square" lIns="0" tIns="0" rIns="0" bIns="0" rtlCol="0" anchor="ctr"/>
          <a:lstStyle/>
          <a:p>
            <a:pPr marL="0" indent="0">
              <a:buNone/>
            </a:pPr>
            <a:r>
              <a:rPr lang="en-US" sz="900" dirty="0">
                <a:solidFill>
                  <a:srgbClr val="33415C"/>
                </a:solidFill>
                <a:latin typeface="Calibri" pitchFamily="34" charset="0"/>
                <a:ea typeface="Calibri" pitchFamily="34" charset="-122"/>
                <a:cs typeface="Calibri" pitchFamily="34" charset="-120"/>
              </a:rPr>
              <a:t>two strategies tested</a:t>
            </a:r>
            <a:endParaRPr lang="en-US" sz="900" dirty="0"/>
          </a:p>
        </p:txBody>
      </p:sp>
      <p:sp>
        <p:nvSpPr>
          <p:cNvPr id="21" name="Text 19"/>
          <p:cNvSpPr/>
          <p:nvPr/>
        </p:nvSpPr>
        <p:spPr>
          <a:xfrm>
            <a:off x="5193792" y="1819656"/>
            <a:ext cx="32004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Calibri" pitchFamily="34" charset="0"/>
                <a:ea typeface="Calibri" pitchFamily="34" charset="-122"/>
                <a:cs typeface="Calibri" pitchFamily="34" charset="-120"/>
              </a:rPr>
              <a:t>&gt;</a:t>
            </a:r>
            <a:endParaRPr lang="en-US" sz="1600" dirty="0"/>
          </a:p>
        </p:txBody>
      </p:sp>
      <p:sp>
        <p:nvSpPr>
          <p:cNvPr id="22" name="Shape 20"/>
          <p:cNvSpPr/>
          <p:nvPr/>
        </p:nvSpPr>
        <p:spPr>
          <a:xfrm>
            <a:off x="5495544" y="1417320"/>
            <a:ext cx="1371600" cy="1170432"/>
          </a:xfrm>
          <a:prstGeom prst="roundRect">
            <a:avLst>
              <a:gd name="adj" fmla="val 6250"/>
            </a:avLst>
          </a:prstGeom>
          <a:solidFill>
            <a:srgbClr val="E9F0FB"/>
          </a:solidFill>
          <a:ln/>
        </p:spPr>
        <p:txBody>
          <a:bodyPr/>
          <a:lstStyle/>
          <a:p>
            <a:endParaRPr lang="en-US"/>
          </a:p>
        </p:txBody>
      </p:sp>
      <p:sp>
        <p:nvSpPr>
          <p:cNvPr id="23" name="Shape 21"/>
          <p:cNvSpPr/>
          <p:nvPr/>
        </p:nvSpPr>
        <p:spPr>
          <a:xfrm>
            <a:off x="5623560" y="1545336"/>
            <a:ext cx="310896" cy="310896"/>
          </a:xfrm>
          <a:prstGeom prst="ellipse">
            <a:avLst/>
          </a:prstGeom>
          <a:solidFill>
            <a:srgbClr val="2563EB"/>
          </a:solidFill>
          <a:ln/>
        </p:spPr>
        <p:txBody>
          <a:bodyPr/>
          <a:lstStyle/>
          <a:p>
            <a:endParaRPr lang="en-US"/>
          </a:p>
        </p:txBody>
      </p:sp>
      <p:sp>
        <p:nvSpPr>
          <p:cNvPr id="24" name="Text 22"/>
          <p:cNvSpPr/>
          <p:nvPr/>
        </p:nvSpPr>
        <p:spPr>
          <a:xfrm>
            <a:off x="5623560" y="154533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5623560" y="1892808"/>
            <a:ext cx="1152144"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Embed</a:t>
            </a:r>
            <a:endParaRPr lang="en-US" sz="1250" dirty="0"/>
          </a:p>
        </p:txBody>
      </p:sp>
      <p:sp>
        <p:nvSpPr>
          <p:cNvPr id="26" name="Text 24"/>
          <p:cNvSpPr/>
          <p:nvPr/>
        </p:nvSpPr>
        <p:spPr>
          <a:xfrm>
            <a:off x="5623560" y="2148840"/>
            <a:ext cx="1152144" cy="402336"/>
          </a:xfrm>
          <a:prstGeom prst="rect">
            <a:avLst/>
          </a:prstGeom>
          <a:noFill/>
          <a:ln/>
        </p:spPr>
        <p:txBody>
          <a:bodyPr wrap="square" lIns="0" tIns="0" rIns="0" bIns="0" rtlCol="0" anchor="ctr"/>
          <a:lstStyle/>
          <a:p>
            <a:pPr marL="0" indent="0">
              <a:buNone/>
            </a:pPr>
            <a:r>
              <a:rPr lang="en-US" sz="900" dirty="0">
                <a:solidFill>
                  <a:srgbClr val="33415C"/>
                </a:solidFill>
                <a:latin typeface="Calibri" pitchFamily="34" charset="0"/>
                <a:ea typeface="Calibri" pitchFamily="34" charset="-122"/>
                <a:cs typeface="Calibri" pitchFamily="34" charset="-120"/>
              </a:rPr>
              <a:t>BGE-small, cosine, normalized</a:t>
            </a:r>
            <a:endParaRPr lang="en-US" sz="900" dirty="0"/>
          </a:p>
        </p:txBody>
      </p:sp>
      <p:sp>
        <p:nvSpPr>
          <p:cNvPr id="27" name="Text 25"/>
          <p:cNvSpPr/>
          <p:nvPr/>
        </p:nvSpPr>
        <p:spPr>
          <a:xfrm>
            <a:off x="6858000" y="1819656"/>
            <a:ext cx="32004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Calibri" pitchFamily="34" charset="0"/>
                <a:ea typeface="Calibri" pitchFamily="34" charset="-122"/>
                <a:cs typeface="Calibri" pitchFamily="34" charset="-120"/>
              </a:rPr>
              <a:t>&gt;</a:t>
            </a:r>
            <a:endParaRPr lang="en-US" sz="1600" dirty="0"/>
          </a:p>
        </p:txBody>
      </p:sp>
      <p:sp>
        <p:nvSpPr>
          <p:cNvPr id="28" name="Shape 26"/>
          <p:cNvSpPr/>
          <p:nvPr/>
        </p:nvSpPr>
        <p:spPr>
          <a:xfrm>
            <a:off x="7159752" y="1417320"/>
            <a:ext cx="1371600" cy="1170432"/>
          </a:xfrm>
          <a:prstGeom prst="roundRect">
            <a:avLst>
              <a:gd name="adj" fmla="val 6250"/>
            </a:avLst>
          </a:prstGeom>
          <a:solidFill>
            <a:srgbClr val="E9F0FB"/>
          </a:solidFill>
          <a:ln/>
        </p:spPr>
        <p:txBody>
          <a:bodyPr/>
          <a:lstStyle/>
          <a:p>
            <a:endParaRPr lang="en-US"/>
          </a:p>
        </p:txBody>
      </p:sp>
      <p:sp>
        <p:nvSpPr>
          <p:cNvPr id="29" name="Shape 27"/>
          <p:cNvSpPr/>
          <p:nvPr/>
        </p:nvSpPr>
        <p:spPr>
          <a:xfrm>
            <a:off x="7287768" y="1545336"/>
            <a:ext cx="310896" cy="310896"/>
          </a:xfrm>
          <a:prstGeom prst="ellipse">
            <a:avLst/>
          </a:prstGeom>
          <a:solidFill>
            <a:srgbClr val="2563EB"/>
          </a:solidFill>
          <a:ln/>
        </p:spPr>
        <p:txBody>
          <a:bodyPr/>
          <a:lstStyle/>
          <a:p>
            <a:endParaRPr lang="en-US"/>
          </a:p>
        </p:txBody>
      </p:sp>
      <p:sp>
        <p:nvSpPr>
          <p:cNvPr id="30" name="Text 28"/>
          <p:cNvSpPr/>
          <p:nvPr/>
        </p:nvSpPr>
        <p:spPr>
          <a:xfrm>
            <a:off x="7287768" y="154533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7287768" y="1892808"/>
            <a:ext cx="1152144"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Index</a:t>
            </a:r>
            <a:endParaRPr lang="en-US" sz="1250" dirty="0"/>
          </a:p>
        </p:txBody>
      </p:sp>
      <p:sp>
        <p:nvSpPr>
          <p:cNvPr id="32" name="Text 30"/>
          <p:cNvSpPr/>
          <p:nvPr/>
        </p:nvSpPr>
        <p:spPr>
          <a:xfrm>
            <a:off x="7287768" y="2148840"/>
            <a:ext cx="1152144" cy="402336"/>
          </a:xfrm>
          <a:prstGeom prst="rect">
            <a:avLst/>
          </a:prstGeom>
          <a:noFill/>
          <a:ln/>
        </p:spPr>
        <p:txBody>
          <a:bodyPr wrap="square" lIns="0" tIns="0" rIns="0" bIns="0" rtlCol="0" anchor="ctr"/>
          <a:lstStyle/>
          <a:p>
            <a:pPr marL="0" indent="0">
              <a:buNone/>
            </a:pPr>
            <a:r>
              <a:rPr lang="en-US" sz="900" dirty="0">
                <a:solidFill>
                  <a:srgbClr val="33415C"/>
                </a:solidFill>
                <a:latin typeface="Calibri" pitchFamily="34" charset="0"/>
                <a:ea typeface="Calibri" pitchFamily="34" charset="-122"/>
                <a:cs typeface="Calibri" pitchFamily="34" charset="-120"/>
              </a:rPr>
              <a:t>ChromaDB, stable chunk IDs</a:t>
            </a:r>
            <a:endParaRPr lang="en-US" sz="900" dirty="0"/>
          </a:p>
        </p:txBody>
      </p:sp>
      <p:sp>
        <p:nvSpPr>
          <p:cNvPr id="33" name="Shape 31"/>
          <p:cNvSpPr/>
          <p:nvPr/>
        </p:nvSpPr>
        <p:spPr>
          <a:xfrm>
            <a:off x="1325880" y="3063240"/>
            <a:ext cx="1371600" cy="1170432"/>
          </a:xfrm>
          <a:prstGeom prst="roundRect">
            <a:avLst>
              <a:gd name="adj" fmla="val 6250"/>
            </a:avLst>
          </a:prstGeom>
          <a:solidFill>
            <a:srgbClr val="E9F0FB"/>
          </a:solidFill>
          <a:ln/>
        </p:spPr>
        <p:txBody>
          <a:bodyPr/>
          <a:lstStyle/>
          <a:p>
            <a:endParaRPr lang="en-US"/>
          </a:p>
        </p:txBody>
      </p:sp>
      <p:sp>
        <p:nvSpPr>
          <p:cNvPr id="34" name="Shape 32"/>
          <p:cNvSpPr/>
          <p:nvPr/>
        </p:nvSpPr>
        <p:spPr>
          <a:xfrm>
            <a:off x="1453896" y="3191256"/>
            <a:ext cx="310896" cy="310896"/>
          </a:xfrm>
          <a:prstGeom prst="ellipse">
            <a:avLst/>
          </a:prstGeom>
          <a:solidFill>
            <a:srgbClr val="2563EB"/>
          </a:solidFill>
          <a:ln/>
        </p:spPr>
        <p:txBody>
          <a:bodyPr/>
          <a:lstStyle/>
          <a:p>
            <a:endParaRPr lang="en-US"/>
          </a:p>
        </p:txBody>
      </p:sp>
      <p:sp>
        <p:nvSpPr>
          <p:cNvPr id="35" name="Text 33"/>
          <p:cNvSpPr/>
          <p:nvPr/>
        </p:nvSpPr>
        <p:spPr>
          <a:xfrm>
            <a:off x="1453896" y="319125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4"/>
          <p:cNvSpPr/>
          <p:nvPr/>
        </p:nvSpPr>
        <p:spPr>
          <a:xfrm>
            <a:off x="1453896" y="3538728"/>
            <a:ext cx="1152144"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Retrieve</a:t>
            </a:r>
            <a:endParaRPr lang="en-US" sz="1250" dirty="0"/>
          </a:p>
        </p:txBody>
      </p:sp>
      <p:sp>
        <p:nvSpPr>
          <p:cNvPr id="37" name="Text 35"/>
          <p:cNvSpPr/>
          <p:nvPr/>
        </p:nvSpPr>
        <p:spPr>
          <a:xfrm>
            <a:off x="1453896" y="3794760"/>
            <a:ext cx="1152144" cy="402336"/>
          </a:xfrm>
          <a:prstGeom prst="rect">
            <a:avLst/>
          </a:prstGeom>
          <a:noFill/>
          <a:ln/>
        </p:spPr>
        <p:txBody>
          <a:bodyPr wrap="square" lIns="0" tIns="0" rIns="0" bIns="0" rtlCol="0" anchor="ctr"/>
          <a:lstStyle/>
          <a:p>
            <a:pPr marL="0" indent="0">
              <a:buNone/>
            </a:pPr>
            <a:r>
              <a:rPr lang="en-US" sz="900" dirty="0">
                <a:solidFill>
                  <a:srgbClr val="33415C"/>
                </a:solidFill>
                <a:latin typeface="Calibri" pitchFamily="34" charset="0"/>
                <a:ea typeface="Calibri" pitchFamily="34" charset="-122"/>
                <a:cs typeface="Calibri" pitchFamily="34" charset="-120"/>
              </a:rPr>
              <a:t>BM25 + dense, pool of 20</a:t>
            </a:r>
            <a:endParaRPr lang="en-US" sz="900" dirty="0"/>
          </a:p>
        </p:txBody>
      </p:sp>
      <p:sp>
        <p:nvSpPr>
          <p:cNvPr id="38" name="Text 36"/>
          <p:cNvSpPr/>
          <p:nvPr/>
        </p:nvSpPr>
        <p:spPr>
          <a:xfrm>
            <a:off x="2688336" y="3465576"/>
            <a:ext cx="32004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Calibri" pitchFamily="34" charset="0"/>
                <a:ea typeface="Calibri" pitchFamily="34" charset="-122"/>
                <a:cs typeface="Calibri" pitchFamily="34" charset="-120"/>
              </a:rPr>
              <a:t>&gt;</a:t>
            </a:r>
            <a:endParaRPr lang="en-US" sz="1600" dirty="0"/>
          </a:p>
        </p:txBody>
      </p:sp>
      <p:sp>
        <p:nvSpPr>
          <p:cNvPr id="39" name="Shape 37"/>
          <p:cNvSpPr/>
          <p:nvPr/>
        </p:nvSpPr>
        <p:spPr>
          <a:xfrm>
            <a:off x="2990088" y="3063240"/>
            <a:ext cx="1371600" cy="1170432"/>
          </a:xfrm>
          <a:prstGeom prst="roundRect">
            <a:avLst>
              <a:gd name="adj" fmla="val 6250"/>
            </a:avLst>
          </a:prstGeom>
          <a:solidFill>
            <a:srgbClr val="E9F0FB"/>
          </a:solidFill>
          <a:ln/>
        </p:spPr>
        <p:txBody>
          <a:bodyPr/>
          <a:lstStyle/>
          <a:p>
            <a:endParaRPr lang="en-US"/>
          </a:p>
        </p:txBody>
      </p:sp>
      <p:sp>
        <p:nvSpPr>
          <p:cNvPr id="40" name="Shape 38"/>
          <p:cNvSpPr/>
          <p:nvPr/>
        </p:nvSpPr>
        <p:spPr>
          <a:xfrm>
            <a:off x="3118104" y="3191256"/>
            <a:ext cx="310896" cy="310896"/>
          </a:xfrm>
          <a:prstGeom prst="ellipse">
            <a:avLst/>
          </a:prstGeom>
          <a:solidFill>
            <a:srgbClr val="2563EB"/>
          </a:solidFill>
          <a:ln/>
        </p:spPr>
        <p:txBody>
          <a:bodyPr/>
          <a:lstStyle/>
          <a:p>
            <a:endParaRPr lang="en-US"/>
          </a:p>
        </p:txBody>
      </p:sp>
      <p:sp>
        <p:nvSpPr>
          <p:cNvPr id="41" name="Text 39"/>
          <p:cNvSpPr/>
          <p:nvPr/>
        </p:nvSpPr>
        <p:spPr>
          <a:xfrm>
            <a:off x="3118104" y="319125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2" name="Text 40"/>
          <p:cNvSpPr/>
          <p:nvPr/>
        </p:nvSpPr>
        <p:spPr>
          <a:xfrm>
            <a:off x="3118104" y="3538728"/>
            <a:ext cx="1152144"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Rerank</a:t>
            </a:r>
            <a:endParaRPr lang="en-US" sz="1250" dirty="0"/>
          </a:p>
        </p:txBody>
      </p:sp>
      <p:sp>
        <p:nvSpPr>
          <p:cNvPr id="43" name="Text 41"/>
          <p:cNvSpPr/>
          <p:nvPr/>
        </p:nvSpPr>
        <p:spPr>
          <a:xfrm>
            <a:off x="3118104" y="3794760"/>
            <a:ext cx="1152144" cy="402336"/>
          </a:xfrm>
          <a:prstGeom prst="rect">
            <a:avLst/>
          </a:prstGeom>
          <a:noFill/>
          <a:ln/>
        </p:spPr>
        <p:txBody>
          <a:bodyPr wrap="square" lIns="0" tIns="0" rIns="0" bIns="0" rtlCol="0" anchor="ctr"/>
          <a:lstStyle/>
          <a:p>
            <a:pPr marL="0" indent="0">
              <a:buNone/>
            </a:pPr>
            <a:r>
              <a:rPr lang="en-US" sz="900" dirty="0">
                <a:solidFill>
                  <a:srgbClr val="33415C"/>
                </a:solidFill>
                <a:latin typeface="Calibri" pitchFamily="34" charset="0"/>
                <a:ea typeface="Calibri" pitchFamily="34" charset="-122"/>
                <a:cs typeface="Calibri" pitchFamily="34" charset="-120"/>
              </a:rPr>
              <a:t>cross encoder picks top 5</a:t>
            </a:r>
            <a:endParaRPr lang="en-US" sz="900" dirty="0"/>
          </a:p>
        </p:txBody>
      </p:sp>
      <p:sp>
        <p:nvSpPr>
          <p:cNvPr id="44" name="Text 42"/>
          <p:cNvSpPr/>
          <p:nvPr/>
        </p:nvSpPr>
        <p:spPr>
          <a:xfrm>
            <a:off x="4352544" y="3465576"/>
            <a:ext cx="32004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Calibri" pitchFamily="34" charset="0"/>
                <a:ea typeface="Calibri" pitchFamily="34" charset="-122"/>
                <a:cs typeface="Calibri" pitchFamily="34" charset="-120"/>
              </a:rPr>
              <a:t>&gt;</a:t>
            </a:r>
            <a:endParaRPr lang="en-US" sz="1600" dirty="0"/>
          </a:p>
        </p:txBody>
      </p:sp>
      <p:sp>
        <p:nvSpPr>
          <p:cNvPr id="45" name="Shape 43"/>
          <p:cNvSpPr/>
          <p:nvPr/>
        </p:nvSpPr>
        <p:spPr>
          <a:xfrm>
            <a:off x="4654296" y="3063240"/>
            <a:ext cx="1371600" cy="1170432"/>
          </a:xfrm>
          <a:prstGeom prst="roundRect">
            <a:avLst>
              <a:gd name="adj" fmla="val 6250"/>
            </a:avLst>
          </a:prstGeom>
          <a:solidFill>
            <a:srgbClr val="E9F0FB"/>
          </a:solidFill>
          <a:ln/>
        </p:spPr>
        <p:txBody>
          <a:bodyPr/>
          <a:lstStyle/>
          <a:p>
            <a:endParaRPr lang="en-US"/>
          </a:p>
        </p:txBody>
      </p:sp>
      <p:sp>
        <p:nvSpPr>
          <p:cNvPr id="46" name="Shape 44"/>
          <p:cNvSpPr/>
          <p:nvPr/>
        </p:nvSpPr>
        <p:spPr>
          <a:xfrm>
            <a:off x="4782312" y="3191256"/>
            <a:ext cx="310896" cy="310896"/>
          </a:xfrm>
          <a:prstGeom prst="ellipse">
            <a:avLst/>
          </a:prstGeom>
          <a:solidFill>
            <a:srgbClr val="2563EB"/>
          </a:solidFill>
          <a:ln/>
        </p:spPr>
        <p:txBody>
          <a:bodyPr/>
          <a:lstStyle/>
          <a:p>
            <a:endParaRPr lang="en-US"/>
          </a:p>
        </p:txBody>
      </p:sp>
      <p:sp>
        <p:nvSpPr>
          <p:cNvPr id="47" name="Text 45"/>
          <p:cNvSpPr/>
          <p:nvPr/>
        </p:nvSpPr>
        <p:spPr>
          <a:xfrm>
            <a:off x="4782312" y="319125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8" name="Text 46"/>
          <p:cNvSpPr/>
          <p:nvPr/>
        </p:nvSpPr>
        <p:spPr>
          <a:xfrm>
            <a:off x="4782312" y="3538728"/>
            <a:ext cx="1152144"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Generate</a:t>
            </a:r>
            <a:endParaRPr lang="en-US" sz="1250" dirty="0"/>
          </a:p>
        </p:txBody>
      </p:sp>
      <p:sp>
        <p:nvSpPr>
          <p:cNvPr id="49" name="Text 47"/>
          <p:cNvSpPr/>
          <p:nvPr/>
        </p:nvSpPr>
        <p:spPr>
          <a:xfrm>
            <a:off x="4782312" y="3794760"/>
            <a:ext cx="1152144" cy="402336"/>
          </a:xfrm>
          <a:prstGeom prst="rect">
            <a:avLst/>
          </a:prstGeom>
          <a:noFill/>
          <a:ln/>
        </p:spPr>
        <p:txBody>
          <a:bodyPr wrap="square" lIns="0" tIns="0" rIns="0" bIns="0" rtlCol="0" anchor="ctr"/>
          <a:lstStyle/>
          <a:p>
            <a:pPr marL="0" indent="0">
              <a:buNone/>
            </a:pPr>
            <a:r>
              <a:rPr lang="en-US" sz="900" dirty="0">
                <a:solidFill>
                  <a:srgbClr val="33415C"/>
                </a:solidFill>
                <a:latin typeface="Calibri" pitchFamily="34" charset="0"/>
                <a:ea typeface="Calibri" pitchFamily="34" charset="-122"/>
                <a:cs typeface="Calibri" pitchFamily="34" charset="-120"/>
              </a:rPr>
              <a:t>Qwen2.5 uses context only</a:t>
            </a:r>
            <a:endParaRPr lang="en-US" sz="900" dirty="0"/>
          </a:p>
        </p:txBody>
      </p:sp>
      <p:sp>
        <p:nvSpPr>
          <p:cNvPr id="50" name="Text 48"/>
          <p:cNvSpPr/>
          <p:nvPr/>
        </p:nvSpPr>
        <p:spPr>
          <a:xfrm>
            <a:off x="6016752" y="3465576"/>
            <a:ext cx="32004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Calibri" pitchFamily="34" charset="0"/>
                <a:ea typeface="Calibri" pitchFamily="34" charset="-122"/>
                <a:cs typeface="Calibri" pitchFamily="34" charset="-120"/>
              </a:rPr>
              <a:t>&gt;</a:t>
            </a:r>
            <a:endParaRPr lang="en-US" sz="1600" dirty="0"/>
          </a:p>
        </p:txBody>
      </p:sp>
      <p:sp>
        <p:nvSpPr>
          <p:cNvPr id="51" name="Shape 49"/>
          <p:cNvSpPr/>
          <p:nvPr/>
        </p:nvSpPr>
        <p:spPr>
          <a:xfrm>
            <a:off x="6318504" y="3063240"/>
            <a:ext cx="1371600" cy="1170432"/>
          </a:xfrm>
          <a:prstGeom prst="roundRect">
            <a:avLst>
              <a:gd name="adj" fmla="val 6250"/>
            </a:avLst>
          </a:prstGeom>
          <a:solidFill>
            <a:srgbClr val="1B2A4A"/>
          </a:solidFill>
          <a:ln/>
        </p:spPr>
        <p:txBody>
          <a:bodyPr/>
          <a:lstStyle/>
          <a:p>
            <a:endParaRPr lang="en-US"/>
          </a:p>
        </p:txBody>
      </p:sp>
      <p:sp>
        <p:nvSpPr>
          <p:cNvPr id="52" name="Shape 50"/>
          <p:cNvSpPr/>
          <p:nvPr/>
        </p:nvSpPr>
        <p:spPr>
          <a:xfrm>
            <a:off x="6446520" y="3191256"/>
            <a:ext cx="310896" cy="310896"/>
          </a:xfrm>
          <a:prstGeom prst="ellipse">
            <a:avLst/>
          </a:prstGeom>
          <a:solidFill>
            <a:srgbClr val="F59E0B"/>
          </a:solidFill>
          <a:ln/>
        </p:spPr>
        <p:txBody>
          <a:bodyPr/>
          <a:lstStyle/>
          <a:p>
            <a:endParaRPr lang="en-US"/>
          </a:p>
        </p:txBody>
      </p:sp>
      <p:sp>
        <p:nvSpPr>
          <p:cNvPr id="53" name="Text 51"/>
          <p:cNvSpPr/>
          <p:nvPr/>
        </p:nvSpPr>
        <p:spPr>
          <a:xfrm>
            <a:off x="6446520" y="319125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54" name="Text 52"/>
          <p:cNvSpPr/>
          <p:nvPr/>
        </p:nvSpPr>
        <p:spPr>
          <a:xfrm>
            <a:off x="6446520" y="3538728"/>
            <a:ext cx="1152144"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Cite or refuse</a:t>
            </a:r>
            <a:endParaRPr lang="en-US" sz="1250" dirty="0"/>
          </a:p>
        </p:txBody>
      </p:sp>
      <p:sp>
        <p:nvSpPr>
          <p:cNvPr id="55" name="Text 53"/>
          <p:cNvSpPr/>
          <p:nvPr/>
        </p:nvSpPr>
        <p:spPr>
          <a:xfrm>
            <a:off x="6446520" y="3794760"/>
            <a:ext cx="1152144" cy="402336"/>
          </a:xfrm>
          <a:prstGeom prst="rect">
            <a:avLst/>
          </a:prstGeom>
          <a:noFill/>
          <a:ln/>
        </p:spPr>
        <p:txBody>
          <a:bodyPr wrap="square" lIns="0" tIns="0" rIns="0" bIns="0" rtlCol="0" anchor="ctr"/>
          <a:lstStyle/>
          <a:p>
            <a:pPr marL="0" indent="0">
              <a:buNone/>
            </a:pPr>
            <a:r>
              <a:rPr lang="en-US" sz="900" dirty="0">
                <a:solidFill>
                  <a:srgbClr val="D7E3F6"/>
                </a:solidFill>
                <a:latin typeface="Calibri" pitchFamily="34" charset="0"/>
                <a:ea typeface="Calibri" pitchFamily="34" charset="-122"/>
                <a:cs typeface="Calibri" pitchFamily="34" charset="-120"/>
              </a:rPr>
              <a:t>link every claim or say no</a:t>
            </a:r>
            <a:endParaRPr lang="en-US" sz="900" dirty="0"/>
          </a:p>
        </p:txBody>
      </p:sp>
      <p:sp>
        <p:nvSpPr>
          <p:cNvPr id="56" name="Text 54"/>
          <p:cNvSpPr/>
          <p:nvPr/>
        </p:nvSpPr>
        <p:spPr>
          <a:xfrm>
            <a:off x="502920" y="4434840"/>
            <a:ext cx="8138160" cy="411480"/>
          </a:xfrm>
          <a:prstGeom prst="rect">
            <a:avLst/>
          </a:prstGeom>
          <a:noFill/>
          <a:ln/>
        </p:spPr>
        <p:txBody>
          <a:bodyPr wrap="square" lIns="0" tIns="0" rIns="0" bIns="0" rtlCol="0" anchor="ctr"/>
          <a:lstStyle/>
          <a:p>
            <a:pPr marL="0" indent="0" algn="ctr">
              <a:buNone/>
            </a:pPr>
            <a:r>
              <a:rPr lang="en-US" sz="1300" i="1" dirty="0">
                <a:solidFill>
                  <a:srgbClr val="2563EB"/>
                </a:solidFill>
                <a:latin typeface="Calibri" pitchFamily="34" charset="0"/>
                <a:ea typeface="Calibri" pitchFamily="34" charset="-122"/>
                <a:cs typeface="Calibri" pitchFamily="34" charset="-120"/>
              </a:rPr>
              <a:t>One rule ties it together: the model never answers from memory. If retrieval brings back nothing useful, the bot says so.</a:t>
            </a:r>
            <a:endParaRPr lang="en-US" sz="1300" dirty="0"/>
          </a:p>
        </p:txBody>
      </p:sp>
      <p:sp>
        <p:nvSpPr>
          <p:cNvPr id="57" name="Text 55"/>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STAGE ONE AND TWO</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What the bot reads</a:t>
            </a:r>
            <a:endParaRPr lang="en-US" sz="2700" dirty="0"/>
          </a:p>
        </p:txBody>
      </p:sp>
      <p:sp>
        <p:nvSpPr>
          <p:cNvPr id="4" name="Shape 2"/>
          <p:cNvSpPr/>
          <p:nvPr/>
        </p:nvSpPr>
        <p:spPr>
          <a:xfrm>
            <a:off x="502920" y="1371600"/>
            <a:ext cx="1920240" cy="1600200"/>
          </a:xfrm>
          <a:prstGeom prst="roundRect">
            <a:avLst>
              <a:gd name="adj" fmla="val 5143"/>
            </a:avLst>
          </a:prstGeom>
          <a:solidFill>
            <a:srgbClr val="E9F0FB"/>
          </a:solidFill>
          <a:ln/>
        </p:spPr>
        <p:txBody>
          <a:bodyPr/>
          <a:lstStyle/>
          <a:p>
            <a:endParaRPr lang="en-US"/>
          </a:p>
        </p:txBody>
      </p:sp>
      <p:sp>
        <p:nvSpPr>
          <p:cNvPr id="5" name="Text 3"/>
          <p:cNvSpPr/>
          <p:nvPr/>
        </p:nvSpPr>
        <p:spPr>
          <a:xfrm>
            <a:off x="685800" y="1536192"/>
            <a:ext cx="1554480" cy="640080"/>
          </a:xfrm>
          <a:prstGeom prst="rect">
            <a:avLst/>
          </a:prstGeom>
          <a:noFill/>
          <a:ln/>
        </p:spPr>
        <p:txBody>
          <a:bodyPr wrap="square" lIns="0" tIns="0" rIns="0" bIns="0" rtlCol="0" anchor="ctr"/>
          <a:lstStyle/>
          <a:p>
            <a:pPr marL="0" indent="0">
              <a:buNone/>
            </a:pPr>
            <a:r>
              <a:rPr lang="en-US" sz="4000" b="1" dirty="0">
                <a:solidFill>
                  <a:srgbClr val="2563EB"/>
                </a:solidFill>
                <a:latin typeface="Cambria" pitchFamily="34" charset="0"/>
                <a:ea typeface="Cambria" pitchFamily="34" charset="-122"/>
              </a:rPr>
              <a:t>300</a:t>
            </a:r>
            <a:endParaRPr lang="en-US" sz="4000" dirty="0"/>
          </a:p>
        </p:txBody>
      </p:sp>
      <p:sp>
        <p:nvSpPr>
          <p:cNvPr id="6" name="Text 4"/>
          <p:cNvSpPr/>
          <p:nvPr/>
        </p:nvSpPr>
        <p:spPr>
          <a:xfrm>
            <a:off x="685800" y="2212848"/>
            <a:ext cx="1600200" cy="658368"/>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pages crawled from Whirlpool and GE support sites</a:t>
            </a:r>
            <a:endParaRPr lang="en-US" sz="1050" dirty="0"/>
          </a:p>
        </p:txBody>
      </p:sp>
      <p:sp>
        <p:nvSpPr>
          <p:cNvPr id="7" name="Shape 5"/>
          <p:cNvSpPr/>
          <p:nvPr/>
        </p:nvSpPr>
        <p:spPr>
          <a:xfrm>
            <a:off x="2587752" y="1371600"/>
            <a:ext cx="1920240" cy="1600200"/>
          </a:xfrm>
          <a:prstGeom prst="roundRect">
            <a:avLst>
              <a:gd name="adj" fmla="val 5143"/>
            </a:avLst>
          </a:prstGeom>
          <a:solidFill>
            <a:srgbClr val="E9F0FB"/>
          </a:solidFill>
          <a:ln/>
        </p:spPr>
        <p:txBody>
          <a:bodyPr/>
          <a:lstStyle/>
          <a:p>
            <a:endParaRPr lang="en-US"/>
          </a:p>
        </p:txBody>
      </p:sp>
      <p:sp>
        <p:nvSpPr>
          <p:cNvPr id="8" name="Text 6"/>
          <p:cNvSpPr/>
          <p:nvPr/>
        </p:nvSpPr>
        <p:spPr>
          <a:xfrm>
            <a:off x="2770632" y="1536192"/>
            <a:ext cx="1554480" cy="640080"/>
          </a:xfrm>
          <a:prstGeom prst="rect">
            <a:avLst/>
          </a:prstGeom>
          <a:noFill/>
          <a:ln/>
        </p:spPr>
        <p:txBody>
          <a:bodyPr wrap="square" lIns="0" tIns="0" rIns="0" bIns="0" rtlCol="0" anchor="ctr"/>
          <a:lstStyle/>
          <a:p>
            <a:pPr marL="0" indent="0">
              <a:buNone/>
            </a:pPr>
            <a:r>
              <a:rPr lang="en-US" sz="4000" b="1" dirty="0">
                <a:solidFill>
                  <a:srgbClr val="2563EB"/>
                </a:solidFill>
                <a:latin typeface="Cambria" pitchFamily="34" charset="0"/>
                <a:ea typeface="Cambria" pitchFamily="34" charset="-122"/>
              </a:rPr>
              <a:t>193</a:t>
            </a:r>
            <a:endParaRPr lang="en-US" sz="4000" dirty="0"/>
          </a:p>
        </p:txBody>
      </p:sp>
      <p:sp>
        <p:nvSpPr>
          <p:cNvPr id="9" name="Text 7"/>
          <p:cNvSpPr/>
          <p:nvPr/>
        </p:nvSpPr>
        <p:spPr>
          <a:xfrm>
            <a:off x="2770632" y="2212848"/>
            <a:ext cx="1600200" cy="658368"/>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kept after removing duplicates by content hash</a:t>
            </a:r>
            <a:endParaRPr lang="en-US" sz="1050" dirty="0"/>
          </a:p>
        </p:txBody>
      </p:sp>
      <p:sp>
        <p:nvSpPr>
          <p:cNvPr id="10" name="Shape 8"/>
          <p:cNvSpPr/>
          <p:nvPr/>
        </p:nvSpPr>
        <p:spPr>
          <a:xfrm>
            <a:off x="4672584" y="1371600"/>
            <a:ext cx="1920240" cy="1600200"/>
          </a:xfrm>
          <a:prstGeom prst="roundRect">
            <a:avLst>
              <a:gd name="adj" fmla="val 5143"/>
            </a:avLst>
          </a:prstGeom>
          <a:solidFill>
            <a:srgbClr val="E9F0FB"/>
          </a:solidFill>
          <a:ln/>
        </p:spPr>
        <p:txBody>
          <a:bodyPr/>
          <a:lstStyle/>
          <a:p>
            <a:endParaRPr lang="en-US"/>
          </a:p>
        </p:txBody>
      </p:sp>
      <p:sp>
        <p:nvSpPr>
          <p:cNvPr id="11" name="Text 9"/>
          <p:cNvSpPr/>
          <p:nvPr/>
        </p:nvSpPr>
        <p:spPr>
          <a:xfrm>
            <a:off x="4855464" y="1536192"/>
            <a:ext cx="1554480" cy="640080"/>
          </a:xfrm>
          <a:prstGeom prst="rect">
            <a:avLst/>
          </a:prstGeom>
          <a:noFill/>
          <a:ln/>
        </p:spPr>
        <p:txBody>
          <a:bodyPr wrap="square" lIns="0" tIns="0" rIns="0" bIns="0" rtlCol="0" anchor="ctr"/>
          <a:lstStyle/>
          <a:p>
            <a:pPr marL="0" indent="0">
              <a:buNone/>
            </a:pPr>
            <a:r>
              <a:rPr lang="en-US" sz="4000" b="1" dirty="0">
                <a:solidFill>
                  <a:srgbClr val="2563EB"/>
                </a:solidFill>
                <a:latin typeface="Cambria" pitchFamily="34" charset="0"/>
                <a:ea typeface="Cambria" pitchFamily="34" charset="-122"/>
              </a:rPr>
              <a:t>5</a:t>
            </a:r>
            <a:endParaRPr lang="en-US" sz="4000" dirty="0"/>
          </a:p>
        </p:txBody>
      </p:sp>
      <p:sp>
        <p:nvSpPr>
          <p:cNvPr id="12" name="Text 10"/>
          <p:cNvSpPr/>
          <p:nvPr/>
        </p:nvSpPr>
        <p:spPr>
          <a:xfrm>
            <a:off x="4855464" y="2212848"/>
            <a:ext cx="1600200" cy="658368"/>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PDF manuals parsed into clean text</a:t>
            </a:r>
            <a:endParaRPr lang="en-US" sz="1050" dirty="0"/>
          </a:p>
        </p:txBody>
      </p:sp>
      <p:sp>
        <p:nvSpPr>
          <p:cNvPr id="13" name="Shape 11"/>
          <p:cNvSpPr/>
          <p:nvPr/>
        </p:nvSpPr>
        <p:spPr>
          <a:xfrm>
            <a:off x="6757416" y="1371600"/>
            <a:ext cx="1920240" cy="1600200"/>
          </a:xfrm>
          <a:prstGeom prst="roundRect">
            <a:avLst>
              <a:gd name="adj" fmla="val 5143"/>
            </a:avLst>
          </a:prstGeom>
          <a:solidFill>
            <a:srgbClr val="E9F0FB"/>
          </a:solidFill>
          <a:ln/>
        </p:spPr>
        <p:txBody>
          <a:bodyPr/>
          <a:lstStyle/>
          <a:p>
            <a:endParaRPr lang="en-US"/>
          </a:p>
        </p:txBody>
      </p:sp>
      <p:sp>
        <p:nvSpPr>
          <p:cNvPr id="14" name="Text 12"/>
          <p:cNvSpPr/>
          <p:nvPr/>
        </p:nvSpPr>
        <p:spPr>
          <a:xfrm>
            <a:off x="6940296" y="1536192"/>
            <a:ext cx="1554480" cy="640080"/>
          </a:xfrm>
          <a:prstGeom prst="rect">
            <a:avLst/>
          </a:prstGeom>
          <a:noFill/>
          <a:ln/>
        </p:spPr>
        <p:txBody>
          <a:bodyPr wrap="square" lIns="0" tIns="0" rIns="0" bIns="0" rtlCol="0" anchor="ctr"/>
          <a:lstStyle/>
          <a:p>
            <a:pPr marL="0" indent="0">
              <a:buNone/>
            </a:pPr>
            <a:r>
              <a:rPr lang="en-US" sz="4000" b="1" dirty="0">
                <a:solidFill>
                  <a:srgbClr val="2563EB"/>
                </a:solidFill>
                <a:latin typeface="Cambria" pitchFamily="34" charset="0"/>
                <a:ea typeface="Cambria" pitchFamily="34" charset="-122"/>
                <a:cs typeface="Cambria" pitchFamily="34" charset="-120"/>
              </a:rPr>
              <a:t>5</a:t>
            </a:r>
            <a:endParaRPr lang="en-US" sz="4000" dirty="0"/>
          </a:p>
        </p:txBody>
      </p:sp>
      <p:sp>
        <p:nvSpPr>
          <p:cNvPr id="15" name="Text 13"/>
          <p:cNvSpPr/>
          <p:nvPr/>
        </p:nvSpPr>
        <p:spPr>
          <a:xfrm>
            <a:off x="6940296" y="2212848"/>
            <a:ext cx="1600200" cy="658368"/>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pages with data tables, kept as tables</a:t>
            </a:r>
            <a:endParaRPr lang="en-US" sz="1050" dirty="0"/>
          </a:p>
        </p:txBody>
      </p:sp>
      <p:sp>
        <p:nvSpPr>
          <p:cNvPr id="16" name="Shape 14"/>
          <p:cNvSpPr/>
          <p:nvPr/>
        </p:nvSpPr>
        <p:spPr>
          <a:xfrm>
            <a:off x="502920" y="3246120"/>
            <a:ext cx="8138160" cy="1371600"/>
          </a:xfrm>
          <a:prstGeom prst="roundRect">
            <a:avLst>
              <a:gd name="adj" fmla="val 6000"/>
            </a:avLst>
          </a:prstGeom>
          <a:solidFill>
            <a:srgbClr val="1B2A4A"/>
          </a:solidFill>
          <a:ln/>
        </p:spPr>
        <p:txBody>
          <a:bodyPr/>
          <a:lstStyle/>
          <a:p>
            <a:endParaRPr lang="en-US"/>
          </a:p>
        </p:txBody>
      </p:sp>
      <p:sp>
        <p:nvSpPr>
          <p:cNvPr id="17" name="Text 15"/>
          <p:cNvSpPr/>
          <p:nvPr/>
        </p:nvSpPr>
        <p:spPr>
          <a:xfrm>
            <a:off x="777240" y="3401568"/>
            <a:ext cx="758952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We crawled like guests, not like a bot attack</a:t>
            </a:r>
            <a:endParaRPr lang="en-US" sz="1400" dirty="0"/>
          </a:p>
        </p:txBody>
      </p:sp>
      <p:sp>
        <p:nvSpPr>
          <p:cNvPr id="18" name="Text 16"/>
          <p:cNvSpPr/>
          <p:nvPr/>
        </p:nvSpPr>
        <p:spPr>
          <a:xfrm>
            <a:off x="777240" y="3703320"/>
            <a:ext cx="7589520" cy="777240"/>
          </a:xfrm>
          <a:prstGeom prst="rect">
            <a:avLst/>
          </a:prstGeom>
          <a:noFill/>
          <a:ln/>
        </p:spPr>
        <p:txBody>
          <a:bodyPr wrap="square" lIns="0" tIns="0" rIns="0" bIns="0" rtlCol="0" anchor="ctr"/>
          <a:lstStyle/>
          <a:p>
            <a:pPr marL="342900" indent="-342900">
              <a:buSzPct val="100000"/>
              <a:buChar char="•"/>
            </a:pPr>
            <a:r>
              <a:rPr lang="en-US" sz="1150" dirty="0">
                <a:solidFill>
                  <a:srgbClr val="D7E3F6"/>
                </a:solidFill>
                <a:latin typeface="Calibri" pitchFamily="34" charset="0"/>
                <a:ea typeface="Calibri" pitchFamily="34" charset="-122"/>
                <a:cs typeface="Calibri" pitchFamily="34" charset="-120"/>
              </a:rPr>
              <a:t>robots.txt honored in code</a:t>
            </a:r>
            <a:endParaRPr lang="en-US" sz="1150" dirty="0"/>
          </a:p>
          <a:p>
            <a:pPr marL="342900" indent="-342900">
              <a:buSzPct val="100000"/>
              <a:buChar char="•"/>
            </a:pPr>
            <a:r>
              <a:rPr lang="en-US" sz="1150" dirty="0">
                <a:solidFill>
                  <a:srgbClr val="D7E3F6"/>
                </a:solidFill>
                <a:latin typeface="Calibri" pitchFamily="34" charset="0"/>
                <a:ea typeface="Calibri" pitchFamily="34" charset="-122"/>
                <a:cs typeface="Calibri" pitchFamily="34" charset="-120"/>
              </a:rPr>
              <a:t>one request per second</a:t>
            </a:r>
            <a:endParaRPr lang="en-US" sz="1150" dirty="0"/>
          </a:p>
          <a:p>
            <a:pPr marL="342900" indent="-342900">
              <a:buSzPct val="100000"/>
              <a:buChar char="•"/>
            </a:pPr>
            <a:r>
              <a:rPr lang="en-US" sz="1150" dirty="0">
                <a:solidFill>
                  <a:srgbClr val="D7E3F6"/>
                </a:solidFill>
                <a:latin typeface="Calibri" pitchFamily="34" charset="0"/>
                <a:ea typeface="Calibri" pitchFamily="34" charset="-122"/>
                <a:cs typeface="Calibri" pitchFamily="34" charset="-120"/>
              </a:rPr>
              <a:t>named user agent with our email</a:t>
            </a:r>
            <a:endParaRPr lang="en-US" sz="1150" dirty="0"/>
          </a:p>
          <a:p>
            <a:pPr marL="342900" indent="-342900">
              <a:buSzPct val="100000"/>
              <a:buChar char="•"/>
            </a:pPr>
            <a:r>
              <a:rPr lang="en-US" sz="1150" dirty="0">
                <a:solidFill>
                  <a:srgbClr val="D7E3F6"/>
                </a:solidFill>
                <a:latin typeface="Calibri" pitchFamily="34" charset="0"/>
                <a:ea typeface="Calibri" pitchFamily="34" charset="-122"/>
                <a:cs typeface="Calibri" pitchFamily="34" charset="-120"/>
              </a:rPr>
              <a:t>raw bytes saved with URL, time and hash</a:t>
            </a:r>
            <a:endParaRPr lang="en-US" sz="1150" dirty="0"/>
          </a:p>
          <a:p>
            <a:pPr marL="342900" indent="-342900">
              <a:buSzPct val="100000"/>
              <a:buChar char="•"/>
            </a:pPr>
            <a:r>
              <a:rPr lang="en-US" sz="1150" dirty="0">
                <a:solidFill>
                  <a:srgbClr val="D7E3F6"/>
                </a:solidFill>
                <a:latin typeface="Calibri" pitchFamily="34" charset="0"/>
                <a:ea typeface="Calibri" pitchFamily="34" charset="-122"/>
                <a:cs typeface="Calibri" pitchFamily="34" charset="-120"/>
              </a:rPr>
              <a:t>no login pages, no directories</a:t>
            </a:r>
            <a:endParaRPr lang="en-US" sz="1150" dirty="0"/>
          </a:p>
        </p:txBody>
      </p:sp>
      <p:sp>
        <p:nvSpPr>
          <p:cNvPr id="19" name="Text 17"/>
          <p:cNvSpPr/>
          <p:nvPr/>
        </p:nvSpPr>
        <p:spPr>
          <a:xfrm>
            <a:off x="502920" y="4681728"/>
            <a:ext cx="8138160" cy="320040"/>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Corpus counts should be confirmed from the latest ingestion summary before final submission.</a:t>
            </a:r>
            <a:endParaRPr lang="en-US" sz="950" dirty="0"/>
          </a:p>
        </p:txBody>
      </p:sp>
      <p:sp>
        <p:nvSpPr>
          <p:cNvPr id="20" name="Text 18"/>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A CONTROLLED EXPERIMENT</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One corpus, two ways to cut it</a:t>
            </a:r>
            <a:endParaRPr lang="en-US" sz="2700" dirty="0"/>
          </a:p>
        </p:txBody>
      </p:sp>
      <p:sp>
        <p:nvSpPr>
          <p:cNvPr id="4" name="Shape 2"/>
          <p:cNvSpPr/>
          <p:nvPr/>
        </p:nvSpPr>
        <p:spPr>
          <a:xfrm>
            <a:off x="502920" y="1371600"/>
            <a:ext cx="3931920" cy="2286000"/>
          </a:xfrm>
          <a:prstGeom prst="roundRect">
            <a:avLst>
              <a:gd name="adj" fmla="val 3600"/>
            </a:avLst>
          </a:prstGeom>
          <a:solidFill>
            <a:srgbClr val="E9F0FB"/>
          </a:solidFill>
          <a:ln/>
        </p:spPr>
        <p:txBody>
          <a:bodyPr/>
          <a:lstStyle/>
          <a:p>
            <a:endParaRPr lang="en-US"/>
          </a:p>
        </p:txBody>
      </p:sp>
      <p:sp>
        <p:nvSpPr>
          <p:cNvPr id="5" name="Shape 3"/>
          <p:cNvSpPr/>
          <p:nvPr/>
        </p:nvSpPr>
        <p:spPr>
          <a:xfrm>
            <a:off x="777240" y="1600200"/>
            <a:ext cx="457200" cy="457200"/>
          </a:xfrm>
          <a:prstGeom prst="ellipse">
            <a:avLst/>
          </a:prstGeom>
          <a:solidFill>
            <a:srgbClr val="64748B"/>
          </a:solidFill>
          <a:ln/>
        </p:spPr>
        <p:txBody>
          <a:bodyPr/>
          <a:lstStyle/>
          <a:p>
            <a:endParaRPr lang="en-US"/>
          </a:p>
        </p:txBody>
      </p:sp>
      <p:pic>
        <p:nvPicPr>
          <p:cNvPr id="6" name="Image 0" descr="assets/icons/cut_w.png"/>
          <p:cNvPicPr>
            <a:picLocks noChangeAspect="1"/>
          </p:cNvPicPr>
          <p:nvPr/>
        </p:nvPicPr>
        <p:blipFill>
          <a:blip r:embed="rId3"/>
          <a:stretch>
            <a:fillRect/>
          </a:stretch>
        </p:blipFill>
        <p:spPr>
          <a:xfrm>
            <a:off x="900684" y="1723644"/>
            <a:ext cx="210312" cy="210312"/>
          </a:xfrm>
          <a:prstGeom prst="rect">
            <a:avLst/>
          </a:prstGeom>
        </p:spPr>
      </p:pic>
      <p:sp>
        <p:nvSpPr>
          <p:cNvPr id="7" name="Text 4"/>
          <p:cNvSpPr/>
          <p:nvPr/>
        </p:nvSpPr>
        <p:spPr>
          <a:xfrm>
            <a:off x="1371600" y="1645920"/>
            <a:ext cx="2743200" cy="32004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Fixed size</a:t>
            </a:r>
            <a:endParaRPr lang="en-US" sz="1600" dirty="0"/>
          </a:p>
        </p:txBody>
      </p:sp>
      <p:sp>
        <p:nvSpPr>
          <p:cNvPr id="8" name="Text 5"/>
          <p:cNvSpPr/>
          <p:nvPr/>
        </p:nvSpPr>
        <p:spPr>
          <a:xfrm>
            <a:off x="822960" y="2148840"/>
            <a:ext cx="3383280" cy="137160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33415C"/>
                </a:solidFill>
                <a:latin typeface="Calibri" pitchFamily="34" charset="0"/>
                <a:ea typeface="Calibri" pitchFamily="34" charset="-122"/>
                <a:cs typeface="Calibri" pitchFamily="34" charset="-120"/>
              </a:rPr>
              <a:t>400-token target</a:t>
            </a:r>
            <a:endParaRPr lang="en-US" sz="1250" dirty="0"/>
          </a:p>
          <a:p>
            <a:pPr marL="342900" indent="-342900">
              <a:spcAft>
                <a:spcPts val="500"/>
              </a:spcAft>
              <a:buSzPct val="100000"/>
              <a:buChar char="•"/>
            </a:pPr>
            <a:r>
              <a:rPr lang="en-US" sz="1250" dirty="0">
                <a:solidFill>
                  <a:srgbClr val="33415C"/>
                </a:solidFill>
                <a:latin typeface="Calibri" pitchFamily="34" charset="0"/>
                <a:ea typeface="Calibri" pitchFamily="34" charset="-122"/>
                <a:cs typeface="Calibri" pitchFamily="34" charset="-120"/>
              </a:rPr>
              <a:t>60-token overlap</a:t>
            </a:r>
            <a:endParaRPr lang="en-US" sz="1250" dirty="0"/>
          </a:p>
          <a:p>
            <a:pPr marL="342900" indent="-342900">
              <a:spcAft>
                <a:spcPts val="500"/>
              </a:spcAft>
              <a:buSzPct val="100000"/>
              <a:buChar char="•"/>
            </a:pPr>
            <a:r>
              <a:rPr lang="en-US" sz="1250" dirty="0">
                <a:solidFill>
                  <a:srgbClr val="33415C"/>
                </a:solidFill>
                <a:latin typeface="Calibri" pitchFamily="34" charset="0"/>
                <a:ea typeface="Calibri" pitchFamily="34" charset="-122"/>
                <a:cs typeface="Calibri" pitchFamily="34" charset="-120"/>
              </a:rPr>
              <a:t>584 chunks</a:t>
            </a:r>
            <a:endParaRPr lang="en-US" sz="1250" dirty="0"/>
          </a:p>
          <a:p>
            <a:pPr marL="342900" indent="-342900">
              <a:spcAft>
                <a:spcPts val="500"/>
              </a:spcAft>
              <a:buSzPct val="100000"/>
              <a:buChar char="•"/>
            </a:pPr>
            <a:r>
              <a:rPr lang="en-US" sz="1250" dirty="0">
                <a:solidFill>
                  <a:srgbClr val="33415C"/>
                </a:solidFill>
                <a:latin typeface="Calibri" pitchFamily="34" charset="0"/>
                <a:ea typeface="Calibri" pitchFamily="34" charset="-122"/>
                <a:cs typeface="Calibri" pitchFamily="34" charset="-120"/>
              </a:rPr>
              <a:t>Median estimated size: 344 tokens</a:t>
            </a:r>
            <a:endParaRPr lang="en-US" sz="1250" dirty="0"/>
          </a:p>
        </p:txBody>
      </p:sp>
      <p:sp>
        <p:nvSpPr>
          <p:cNvPr id="9" name="Shape 6"/>
          <p:cNvSpPr/>
          <p:nvPr/>
        </p:nvSpPr>
        <p:spPr>
          <a:xfrm>
            <a:off x="4709160" y="1371600"/>
            <a:ext cx="3931920" cy="2286000"/>
          </a:xfrm>
          <a:prstGeom prst="roundRect">
            <a:avLst>
              <a:gd name="adj" fmla="val 3600"/>
            </a:avLst>
          </a:prstGeom>
          <a:solidFill>
            <a:srgbClr val="1B2A4A"/>
          </a:solidFill>
          <a:ln/>
        </p:spPr>
        <p:txBody>
          <a:bodyPr/>
          <a:lstStyle/>
          <a:p>
            <a:endParaRPr lang="en-US"/>
          </a:p>
        </p:txBody>
      </p:sp>
      <p:sp>
        <p:nvSpPr>
          <p:cNvPr id="10" name="Shape 7"/>
          <p:cNvSpPr/>
          <p:nvPr/>
        </p:nvSpPr>
        <p:spPr>
          <a:xfrm>
            <a:off x="4983480" y="1600200"/>
            <a:ext cx="457200" cy="457200"/>
          </a:xfrm>
          <a:prstGeom prst="ellipse">
            <a:avLst/>
          </a:prstGeom>
          <a:solidFill>
            <a:srgbClr val="FFFFFF"/>
          </a:solidFill>
          <a:ln/>
        </p:spPr>
        <p:txBody>
          <a:bodyPr/>
          <a:lstStyle/>
          <a:p>
            <a:endParaRPr lang="en-US"/>
          </a:p>
        </p:txBody>
      </p:sp>
      <p:pic>
        <p:nvPicPr>
          <p:cNvPr id="11" name="Image 1" descr="assets/icons/layer_n.png"/>
          <p:cNvPicPr>
            <a:picLocks noChangeAspect="1"/>
          </p:cNvPicPr>
          <p:nvPr/>
        </p:nvPicPr>
        <p:blipFill>
          <a:blip r:embed="rId4"/>
          <a:stretch>
            <a:fillRect/>
          </a:stretch>
        </p:blipFill>
        <p:spPr>
          <a:xfrm>
            <a:off x="5106924" y="1723644"/>
            <a:ext cx="210312" cy="210312"/>
          </a:xfrm>
          <a:prstGeom prst="rect">
            <a:avLst/>
          </a:prstGeom>
        </p:spPr>
      </p:pic>
      <p:sp>
        <p:nvSpPr>
          <p:cNvPr id="12" name="Text 8"/>
          <p:cNvSpPr/>
          <p:nvPr/>
        </p:nvSpPr>
        <p:spPr>
          <a:xfrm>
            <a:off x="5577840" y="1645920"/>
            <a:ext cx="237744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Structure aware</a:t>
            </a:r>
            <a:endParaRPr lang="en-US" sz="1600" dirty="0"/>
          </a:p>
        </p:txBody>
      </p:sp>
      <p:sp>
        <p:nvSpPr>
          <p:cNvPr id="13" name="Text 9"/>
          <p:cNvSpPr/>
          <p:nvPr/>
        </p:nvSpPr>
        <p:spPr>
          <a:xfrm>
            <a:off x="5029200" y="2148840"/>
            <a:ext cx="3474720" cy="137160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D7E3F6"/>
                </a:solidFill>
                <a:latin typeface="Calibri" pitchFamily="34" charset="0"/>
                <a:ea typeface="Calibri" pitchFamily="34" charset="-122"/>
                <a:cs typeface="Calibri" pitchFamily="34" charset="-120"/>
              </a:rPr>
              <a:t>Splits on headings, keeps heading path</a:t>
            </a:r>
            <a:endParaRPr lang="en-US" sz="1250" dirty="0"/>
          </a:p>
          <a:p>
            <a:pPr marL="342900" indent="-342900">
              <a:spcAft>
                <a:spcPts val="500"/>
              </a:spcAft>
              <a:buSzPct val="100000"/>
              <a:buChar char="•"/>
            </a:pPr>
            <a:r>
              <a:rPr lang="en-US" sz="1250" dirty="0">
                <a:solidFill>
                  <a:srgbClr val="D7E3F6"/>
                </a:solidFill>
                <a:latin typeface="Calibri" pitchFamily="34" charset="0"/>
                <a:ea typeface="Calibri" pitchFamily="34" charset="-122"/>
                <a:cs typeface="Calibri" pitchFamily="34" charset="-120"/>
              </a:rPr>
              <a:t>868 chunks</a:t>
            </a:r>
            <a:endParaRPr lang="en-US" sz="1250" dirty="0"/>
          </a:p>
          <a:p>
            <a:pPr marL="342900" indent="-342900">
              <a:spcAft>
                <a:spcPts val="500"/>
              </a:spcAft>
              <a:buSzPct val="100000"/>
              <a:buChar char="•"/>
            </a:pPr>
            <a:r>
              <a:rPr lang="en-US" sz="1250" dirty="0">
                <a:solidFill>
                  <a:srgbClr val="D7E3F6"/>
                </a:solidFill>
                <a:latin typeface="Calibri" pitchFamily="34" charset="0"/>
                <a:ea typeface="Calibri" pitchFamily="34" charset="-122"/>
                <a:cs typeface="Calibri" pitchFamily="34" charset="-120"/>
              </a:rPr>
              <a:t>Median estimated size: 76 tokens</a:t>
            </a:r>
            <a:endParaRPr lang="en-US" sz="1250" dirty="0"/>
          </a:p>
          <a:p>
            <a:pPr marL="342900" indent="-342900">
              <a:spcAft>
                <a:spcPts val="500"/>
              </a:spcAft>
              <a:buSzPct val="100000"/>
              <a:buChar char="•"/>
            </a:pPr>
            <a:r>
              <a:rPr lang="en-US" sz="1250" dirty="0">
                <a:solidFill>
                  <a:srgbClr val="D7E3F6"/>
                </a:solidFill>
                <a:latin typeface="Calibri" pitchFamily="34" charset="0"/>
                <a:ea typeface="Calibri" pitchFamily="34" charset="-122"/>
                <a:cs typeface="Calibri" pitchFamily="34" charset="-120"/>
              </a:rPr>
              <a:t>A repair step stays in one piece</a:t>
            </a:r>
            <a:endParaRPr lang="en-US" sz="1250" dirty="0"/>
          </a:p>
        </p:txBody>
      </p:sp>
      <p:sp>
        <p:nvSpPr>
          <p:cNvPr id="14" name="Shape 10"/>
          <p:cNvSpPr/>
          <p:nvPr/>
        </p:nvSpPr>
        <p:spPr>
          <a:xfrm>
            <a:off x="502920" y="3977640"/>
            <a:ext cx="475488" cy="475488"/>
          </a:xfrm>
          <a:prstGeom prst="ellipse">
            <a:avLst/>
          </a:prstGeom>
          <a:solidFill>
            <a:srgbClr val="2E9E5B"/>
          </a:solidFill>
          <a:ln/>
        </p:spPr>
        <p:txBody>
          <a:bodyPr/>
          <a:lstStyle/>
          <a:p>
            <a:endParaRPr lang="en-US"/>
          </a:p>
        </p:txBody>
      </p:sp>
      <p:pic>
        <p:nvPicPr>
          <p:cNvPr id="15" name="Image 2" descr="assets/icons/clipboard_w.png"/>
          <p:cNvPicPr>
            <a:picLocks noChangeAspect="1"/>
          </p:cNvPicPr>
          <p:nvPr/>
        </p:nvPicPr>
        <p:blipFill>
          <a:blip r:embed="rId5"/>
          <a:stretch>
            <a:fillRect/>
          </a:stretch>
        </p:blipFill>
        <p:spPr>
          <a:xfrm>
            <a:off x="631302" y="4106022"/>
            <a:ext cx="218724" cy="218724"/>
          </a:xfrm>
          <a:prstGeom prst="rect">
            <a:avLst/>
          </a:prstGeom>
        </p:spPr>
      </p:pic>
      <p:sp>
        <p:nvSpPr>
          <p:cNvPr id="16" name="Text 11"/>
          <p:cNvSpPr/>
          <p:nvPr/>
        </p:nvSpPr>
        <p:spPr>
          <a:xfrm>
            <a:off x="1170432" y="3931920"/>
            <a:ext cx="7498080" cy="685800"/>
          </a:xfrm>
          <a:prstGeom prst="rect">
            <a:avLst/>
          </a:prstGeom>
          <a:noFill/>
          <a:ln/>
        </p:spPr>
        <p:txBody>
          <a:bodyPr wrap="square" lIns="0" tIns="0" rIns="0" bIns="0" rtlCol="0" anchor="ctr"/>
          <a:lstStyle/>
          <a:p>
            <a:pPr marL="0" indent="0">
              <a:buNone/>
            </a:pPr>
            <a:r>
              <a:rPr lang="en-US" sz="1300" dirty="0">
                <a:solidFill>
                  <a:srgbClr val="33415C"/>
                </a:solidFill>
                <a:latin typeface="Calibri" pitchFamily="34" charset="0"/>
                <a:ea typeface="Calibri" pitchFamily="34" charset="-122"/>
                <a:cs typeface="Calibri" pitchFamily="34" charset="-120"/>
              </a:rPr>
              <a:t>Fixed-size chunking produced fewer, larger chunks, while structure-aware chunking produced more granular, heading-aligned chunks.</a:t>
            </a:r>
            <a:endParaRPr lang="en-US" sz="1300" dirty="0"/>
          </a:p>
        </p:txBody>
      </p:sp>
      <p:sp>
        <p:nvSpPr>
          <p:cNvPr id="17" name="Text 12"/>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STAGE SIX AND SEVEN</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Hybrid retrieval with reranking improved ranking quality</a:t>
            </a:r>
            <a:endParaRPr lang="en-US" sz="2700" dirty="0"/>
          </a:p>
        </p:txBody>
      </p:sp>
      <p:graphicFrame>
        <p:nvGraphicFramePr>
          <p:cNvPr id="4" name="Chart 0"/>
          <p:cNvGraphicFramePr/>
          <p:nvPr/>
        </p:nvGraphicFramePr>
        <p:xfrm>
          <a:off x="502920" y="1371600"/>
          <a:ext cx="484632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02920" y="3785616"/>
            <a:ext cx="4846320" cy="786384"/>
          </a:xfrm>
          <a:prstGeom prst="roundRect">
            <a:avLst>
              <a:gd name="adj" fmla="val 9302"/>
            </a:avLst>
          </a:prstGeom>
          <a:solidFill>
            <a:srgbClr val="E9F0FB"/>
          </a:solidFill>
          <a:ln/>
        </p:spPr>
        <p:txBody>
          <a:bodyPr/>
          <a:lstStyle/>
          <a:p>
            <a:endParaRPr lang="en-US"/>
          </a:p>
        </p:txBody>
      </p:sp>
      <p:sp>
        <p:nvSpPr>
          <p:cNvPr id="6" name="Text 3"/>
          <p:cNvSpPr/>
          <p:nvPr/>
        </p:nvSpPr>
        <p:spPr>
          <a:xfrm>
            <a:off x="658368" y="3785616"/>
            <a:ext cx="4572000" cy="786384"/>
          </a:xfrm>
          <a:prstGeom prst="rect">
            <a:avLst/>
          </a:prstGeom>
          <a:noFill/>
          <a:ln/>
        </p:spPr>
        <p:txBody>
          <a:bodyPr wrap="square" lIns="0" tIns="0" rIns="0" bIns="0" rtlCol="0" anchor="ctr"/>
          <a:lstStyle/>
          <a:p>
            <a:pPr marL="0" indent="0">
              <a:spcAft>
                <a:spcPts val="400"/>
              </a:spcAft>
              <a:buNone/>
            </a:pPr>
            <a:r>
              <a:rPr lang="en-US" sz="900" b="1" dirty="0">
                <a:solidFill>
                  <a:srgbClr val="1B2A4A"/>
                </a:solidFill>
                <a:latin typeface="Calibri" pitchFamily="34" charset="0"/>
                <a:ea typeface="Calibri" pitchFamily="34" charset="-122"/>
                <a:cs typeface="Calibri" pitchFamily="34" charset="-120"/>
              </a:rPr>
              <a:t>Recall@5: 0.700    Recall@20: 0.725    Hybrid MRR: 0.637    Rerank MRR: 0.667    Lift: +0.030</a:t>
            </a:r>
            <a:endParaRPr lang="en-US" sz="900" dirty="0"/>
          </a:p>
          <a:p>
            <a:pPr marL="0" indent="0">
              <a:spcAft>
                <a:spcPts val="400"/>
              </a:spcAft>
              <a:buNone/>
            </a:pPr>
            <a:r>
              <a:rPr lang="en-US" sz="900" dirty="0">
                <a:solidFill>
                  <a:srgbClr val="33415C"/>
                </a:solidFill>
                <a:latin typeface="Calibri" pitchFamily="34" charset="0"/>
                <a:ea typeface="Calibri" pitchFamily="34" charset="-122"/>
                <a:cs typeface="Calibri" pitchFamily="34" charset="-120"/>
              </a:rPr>
              <a:t>Hybrid latency: 0.058 s    Added rerank latency: 2.516 s    Final retrieval latency: 2.574 s</a:t>
            </a:r>
            <a:endParaRPr lang="en-US" sz="900" dirty="0"/>
          </a:p>
        </p:txBody>
      </p:sp>
      <p:sp>
        <p:nvSpPr>
          <p:cNvPr id="7" name="Text 4"/>
          <p:cNvSpPr/>
          <p:nvPr/>
        </p:nvSpPr>
        <p:spPr>
          <a:xfrm>
            <a:off x="502920" y="4626864"/>
            <a:ext cx="4846320" cy="41148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nDCG@10 is temporarily excluded because the current calculation returned values above 1.0 and requires correction before reporting.</a:t>
            </a:r>
            <a:endParaRPr lang="en-US" sz="750" dirty="0"/>
          </a:p>
        </p:txBody>
      </p:sp>
      <p:sp>
        <p:nvSpPr>
          <p:cNvPr id="8" name="Shape 5"/>
          <p:cNvSpPr/>
          <p:nvPr/>
        </p:nvSpPr>
        <p:spPr>
          <a:xfrm>
            <a:off x="5623560" y="1371600"/>
            <a:ext cx="457200" cy="457200"/>
          </a:xfrm>
          <a:prstGeom prst="ellipse">
            <a:avLst/>
          </a:prstGeom>
          <a:solidFill>
            <a:srgbClr val="2563EB"/>
          </a:solidFill>
          <a:ln/>
        </p:spPr>
        <p:txBody>
          <a:bodyPr/>
          <a:lstStyle/>
          <a:p>
            <a:endParaRPr lang="en-US"/>
          </a:p>
        </p:txBody>
      </p:sp>
      <p:pic>
        <p:nvPicPr>
          <p:cNvPr id="9" name="Image 0" descr="assets/icons/sort_w.png"/>
          <p:cNvPicPr>
            <a:picLocks noChangeAspect="1"/>
          </p:cNvPicPr>
          <p:nvPr/>
        </p:nvPicPr>
        <p:blipFill>
          <a:blip r:embed="rId4"/>
          <a:stretch>
            <a:fillRect/>
          </a:stretch>
        </p:blipFill>
        <p:spPr>
          <a:xfrm>
            <a:off x="5747004" y="1495044"/>
            <a:ext cx="210312" cy="210312"/>
          </a:xfrm>
          <a:prstGeom prst="rect">
            <a:avLst/>
          </a:prstGeom>
        </p:spPr>
      </p:pic>
      <p:sp>
        <p:nvSpPr>
          <p:cNvPr id="10" name="Text 6"/>
          <p:cNvSpPr/>
          <p:nvPr/>
        </p:nvSpPr>
        <p:spPr>
          <a:xfrm>
            <a:off x="6263640" y="1344168"/>
            <a:ext cx="2468880"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Keyword and meaning together</a:t>
            </a:r>
            <a:endParaRPr lang="en-US" sz="1200" dirty="0"/>
          </a:p>
        </p:txBody>
      </p:sp>
      <p:sp>
        <p:nvSpPr>
          <p:cNvPr id="11" name="Text 7"/>
          <p:cNvSpPr/>
          <p:nvPr/>
        </p:nvSpPr>
        <p:spPr>
          <a:xfrm>
            <a:off x="6263640" y="1600200"/>
            <a:ext cx="2423160" cy="822960"/>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BM25 captures exact terms, while dense retrieval captures semantic similarity.</a:t>
            </a:r>
            <a:endParaRPr lang="en-US" sz="1050" dirty="0"/>
          </a:p>
        </p:txBody>
      </p:sp>
      <p:sp>
        <p:nvSpPr>
          <p:cNvPr id="12" name="Shape 8"/>
          <p:cNvSpPr/>
          <p:nvPr/>
        </p:nvSpPr>
        <p:spPr>
          <a:xfrm>
            <a:off x="5623560" y="2423160"/>
            <a:ext cx="457200" cy="457200"/>
          </a:xfrm>
          <a:prstGeom prst="ellipse">
            <a:avLst/>
          </a:prstGeom>
          <a:solidFill>
            <a:srgbClr val="2563EB"/>
          </a:solidFill>
          <a:ln/>
        </p:spPr>
        <p:txBody>
          <a:bodyPr/>
          <a:lstStyle/>
          <a:p>
            <a:endParaRPr lang="en-US"/>
          </a:p>
        </p:txBody>
      </p:sp>
      <p:pic>
        <p:nvPicPr>
          <p:cNvPr id="13" name="Image 1" descr="assets/icons/filter_w.png"/>
          <p:cNvPicPr>
            <a:picLocks noChangeAspect="1"/>
          </p:cNvPicPr>
          <p:nvPr/>
        </p:nvPicPr>
        <p:blipFill>
          <a:blip r:embed="rId5"/>
          <a:stretch>
            <a:fillRect/>
          </a:stretch>
        </p:blipFill>
        <p:spPr>
          <a:xfrm>
            <a:off x="5747004" y="2546604"/>
            <a:ext cx="210312" cy="210312"/>
          </a:xfrm>
          <a:prstGeom prst="rect">
            <a:avLst/>
          </a:prstGeom>
        </p:spPr>
      </p:pic>
      <p:sp>
        <p:nvSpPr>
          <p:cNvPr id="14" name="Text 9"/>
          <p:cNvSpPr/>
          <p:nvPr/>
        </p:nvSpPr>
        <p:spPr>
          <a:xfrm>
            <a:off x="6263640" y="2395728"/>
            <a:ext cx="2468880"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A pool of 20, then the best 5</a:t>
            </a:r>
            <a:endParaRPr lang="en-US" sz="1200" dirty="0"/>
          </a:p>
        </p:txBody>
      </p:sp>
      <p:sp>
        <p:nvSpPr>
          <p:cNvPr id="15" name="Text 10"/>
          <p:cNvSpPr/>
          <p:nvPr/>
        </p:nvSpPr>
        <p:spPr>
          <a:xfrm>
            <a:off x="6263640" y="2651760"/>
            <a:ext cx="2423160" cy="822960"/>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Recall@20 was 0.725 and Recall@5 was 0.700 across 40 evaluation queries.</a:t>
            </a:r>
            <a:endParaRPr lang="en-US" sz="1050" dirty="0"/>
          </a:p>
        </p:txBody>
      </p:sp>
      <p:sp>
        <p:nvSpPr>
          <p:cNvPr id="16" name="Shape 11"/>
          <p:cNvSpPr/>
          <p:nvPr/>
        </p:nvSpPr>
        <p:spPr>
          <a:xfrm>
            <a:off x="5623560" y="3474720"/>
            <a:ext cx="457200" cy="457200"/>
          </a:xfrm>
          <a:prstGeom prst="ellipse">
            <a:avLst/>
          </a:prstGeom>
          <a:solidFill>
            <a:srgbClr val="2563EB"/>
          </a:solidFill>
          <a:ln/>
        </p:spPr>
        <p:txBody>
          <a:bodyPr/>
          <a:lstStyle/>
          <a:p>
            <a:endParaRPr lang="en-US"/>
          </a:p>
        </p:txBody>
      </p:sp>
      <p:pic>
        <p:nvPicPr>
          <p:cNvPr id="17" name="Image 2" descr="assets/icons/clock_w.png"/>
          <p:cNvPicPr>
            <a:picLocks noChangeAspect="1"/>
          </p:cNvPicPr>
          <p:nvPr/>
        </p:nvPicPr>
        <p:blipFill>
          <a:blip r:embed="rId6"/>
          <a:stretch>
            <a:fillRect/>
          </a:stretch>
        </p:blipFill>
        <p:spPr>
          <a:xfrm>
            <a:off x="5747004" y="3598164"/>
            <a:ext cx="210312" cy="210312"/>
          </a:xfrm>
          <a:prstGeom prst="rect">
            <a:avLst/>
          </a:prstGeom>
        </p:spPr>
      </p:pic>
      <p:sp>
        <p:nvSpPr>
          <p:cNvPr id="18" name="Text 12"/>
          <p:cNvSpPr/>
          <p:nvPr/>
        </p:nvSpPr>
        <p:spPr>
          <a:xfrm>
            <a:off x="6263640" y="3447288"/>
            <a:ext cx="2468880"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What changed after reranking</a:t>
            </a:r>
            <a:endParaRPr lang="en-US" sz="1200" dirty="0"/>
          </a:p>
        </p:txBody>
      </p:sp>
      <p:sp>
        <p:nvSpPr>
          <p:cNvPr id="19" name="Text 13"/>
          <p:cNvSpPr/>
          <p:nvPr/>
        </p:nvSpPr>
        <p:spPr>
          <a:xfrm>
            <a:off x="6263640" y="3703320"/>
            <a:ext cx="2423160" cy="822960"/>
          </a:xfrm>
          <a:prstGeom prst="rect">
            <a:avLst/>
          </a:prstGeom>
          <a:noFill/>
          <a:ln/>
        </p:spPr>
        <p:txBody>
          <a:bodyPr wrap="square" lIns="0" tIns="0" rIns="0" bIns="0" rtlCol="0" anchor="ctr"/>
          <a:lstStyle/>
          <a:p>
            <a:pPr marL="0" indent="0">
              <a:buNone/>
            </a:pPr>
            <a:r>
              <a:rPr lang="en-US" sz="900" dirty="0">
                <a:solidFill>
                  <a:srgbClr val="33415C"/>
                </a:solidFill>
                <a:latin typeface="Calibri" pitchFamily="34" charset="0"/>
                <a:ea typeface="Calibri" pitchFamily="34" charset="-122"/>
                <a:cs typeface="Calibri" pitchFamily="34" charset="-120"/>
              </a:rPr>
              <a:t>Reranking improved the position of relevant results, increasing MRR from 0.637 to 0.667. Recall@5 and Recall@20 stayed the same, so reranking improved ordering but did not recover additional relevant sources.</a:t>
            </a:r>
            <a:endParaRPr lang="en-US" sz="900" dirty="0"/>
          </a:p>
        </p:txBody>
      </p:sp>
      <p:sp>
        <p:nvSpPr>
          <p:cNvPr id="20" name="Shape 14"/>
          <p:cNvSpPr/>
          <p:nvPr/>
        </p:nvSpPr>
        <p:spPr>
          <a:xfrm>
            <a:off x="5532120" y="4626864"/>
            <a:ext cx="3108960" cy="420624"/>
          </a:xfrm>
          <a:prstGeom prst="roundRect">
            <a:avLst>
              <a:gd name="adj" fmla="val 17391"/>
            </a:avLst>
          </a:prstGeom>
          <a:solidFill>
            <a:srgbClr val="2E9E5B"/>
          </a:solidFill>
          <a:ln/>
        </p:spPr>
        <p:txBody>
          <a:bodyPr/>
          <a:lstStyle/>
          <a:p>
            <a:endParaRPr lang="en-US"/>
          </a:p>
        </p:txBody>
      </p:sp>
      <p:sp>
        <p:nvSpPr>
          <p:cNvPr id="21" name="Text 15"/>
          <p:cNvSpPr/>
          <p:nvPr/>
        </p:nvSpPr>
        <p:spPr>
          <a:xfrm>
            <a:off x="5669280" y="4626864"/>
            <a:ext cx="2834640" cy="420624"/>
          </a:xfrm>
          <a:prstGeom prst="rect">
            <a:avLst/>
          </a:prstGeom>
          <a:noFill/>
          <a:ln/>
        </p:spPr>
        <p:txBody>
          <a:bodyPr wrap="square" lIns="0" tIns="0" rIns="0" bIns="0" rtlCol="0" anchor="ctr"/>
          <a:lstStyle/>
          <a:p>
            <a:pPr marL="0" indent="0">
              <a:buNone/>
            </a:pPr>
            <a:r>
              <a:rPr lang="en-US" sz="780" b="1" dirty="0">
                <a:solidFill>
                  <a:srgbClr val="FFFFFF"/>
                </a:solidFill>
                <a:latin typeface="Calibri" pitchFamily="34" charset="0"/>
                <a:ea typeface="Calibri" pitchFamily="34" charset="-122"/>
                <a:cs typeface="Calibri" pitchFamily="34" charset="-120"/>
              </a:rPr>
              <a:t>The reranker improved ranking quality, but the trade-off was about 2.5 seconds of added latency per query.</a:t>
            </a:r>
            <a:endParaRPr lang="en-US" sz="780" dirty="0"/>
          </a:p>
        </p:txBody>
      </p:sp>
      <p:sp>
        <p:nvSpPr>
          <p:cNvPr id="22" name="Text 16"/>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OUR YARDSTICK</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40 questions, written before final system tuning</a:t>
            </a:r>
            <a:endParaRPr lang="en-US" sz="2700" dirty="0"/>
          </a:p>
        </p:txBody>
      </p:sp>
      <p:graphicFrame>
        <p:nvGraphicFramePr>
          <p:cNvPr id="4" name="Chart 0"/>
          <p:cNvGraphicFramePr/>
          <p:nvPr/>
        </p:nvGraphicFramePr>
        <p:xfrm>
          <a:off x="411480" y="1325880"/>
          <a:ext cx="448056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257800" y="1463040"/>
            <a:ext cx="457200" cy="457200"/>
          </a:xfrm>
          <a:prstGeom prst="ellipse">
            <a:avLst/>
          </a:prstGeom>
          <a:solidFill>
            <a:srgbClr val="1B2A4A"/>
          </a:solidFill>
          <a:ln/>
        </p:spPr>
        <p:txBody>
          <a:bodyPr/>
          <a:lstStyle/>
          <a:p>
            <a:endParaRPr lang="en-US"/>
          </a:p>
        </p:txBody>
      </p:sp>
      <p:pic>
        <p:nvPicPr>
          <p:cNvPr id="6" name="Image 0" descr="assets/icons/clipboard_w.png"/>
          <p:cNvPicPr>
            <a:picLocks noChangeAspect="1"/>
          </p:cNvPicPr>
          <p:nvPr/>
        </p:nvPicPr>
        <p:blipFill>
          <a:blip r:embed="rId4"/>
          <a:stretch>
            <a:fillRect/>
          </a:stretch>
        </p:blipFill>
        <p:spPr>
          <a:xfrm>
            <a:off x="5381244" y="1586484"/>
            <a:ext cx="210312" cy="210312"/>
          </a:xfrm>
          <a:prstGeom prst="rect">
            <a:avLst/>
          </a:prstGeom>
        </p:spPr>
      </p:pic>
      <p:sp>
        <p:nvSpPr>
          <p:cNvPr id="7" name="Text 3"/>
          <p:cNvSpPr/>
          <p:nvPr/>
        </p:nvSpPr>
        <p:spPr>
          <a:xfrm>
            <a:off x="5897880" y="1435608"/>
            <a:ext cx="2743200" cy="2743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Written before tuning</a:t>
            </a:r>
            <a:endParaRPr lang="en-US" sz="1250" dirty="0"/>
          </a:p>
        </p:txBody>
      </p:sp>
      <p:sp>
        <p:nvSpPr>
          <p:cNvPr id="8" name="Text 4"/>
          <p:cNvSpPr/>
          <p:nvPr/>
        </p:nvSpPr>
        <p:spPr>
          <a:xfrm>
            <a:off x="5897880" y="1691640"/>
            <a:ext cx="2788920" cy="685800"/>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Questions were created from source pages before final system tuning.</a:t>
            </a:r>
            <a:endParaRPr lang="en-US" sz="1050" dirty="0"/>
          </a:p>
        </p:txBody>
      </p:sp>
      <p:sp>
        <p:nvSpPr>
          <p:cNvPr id="9" name="Shape 5"/>
          <p:cNvSpPr/>
          <p:nvPr/>
        </p:nvSpPr>
        <p:spPr>
          <a:xfrm>
            <a:off x="5257800" y="2423160"/>
            <a:ext cx="457200" cy="457200"/>
          </a:xfrm>
          <a:prstGeom prst="ellipse">
            <a:avLst/>
          </a:prstGeom>
          <a:solidFill>
            <a:srgbClr val="1B2A4A"/>
          </a:solidFill>
          <a:ln/>
        </p:spPr>
        <p:txBody>
          <a:bodyPr/>
          <a:lstStyle/>
          <a:p>
            <a:endParaRPr lang="en-US"/>
          </a:p>
        </p:txBody>
      </p:sp>
      <p:pic>
        <p:nvPicPr>
          <p:cNvPr id="10" name="Image 1" descr="assets/icons/users_w.png"/>
          <p:cNvPicPr>
            <a:picLocks noChangeAspect="1"/>
          </p:cNvPicPr>
          <p:nvPr/>
        </p:nvPicPr>
        <p:blipFill>
          <a:blip r:embed="rId5"/>
          <a:stretch>
            <a:fillRect/>
          </a:stretch>
        </p:blipFill>
        <p:spPr>
          <a:xfrm>
            <a:off x="5381244" y="2546604"/>
            <a:ext cx="210312" cy="210312"/>
          </a:xfrm>
          <a:prstGeom prst="rect">
            <a:avLst/>
          </a:prstGeom>
        </p:spPr>
      </p:pic>
      <p:sp>
        <p:nvSpPr>
          <p:cNvPr id="11" name="Text 6"/>
          <p:cNvSpPr/>
          <p:nvPr/>
        </p:nvSpPr>
        <p:spPr>
          <a:xfrm>
            <a:off x="5897880" y="2395728"/>
            <a:ext cx="2743200" cy="2743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Human verification pending</a:t>
            </a:r>
            <a:endParaRPr lang="en-US" sz="1250" dirty="0"/>
          </a:p>
        </p:txBody>
      </p:sp>
      <p:sp>
        <p:nvSpPr>
          <p:cNvPr id="12" name="Text 7"/>
          <p:cNvSpPr/>
          <p:nvPr/>
        </p:nvSpPr>
        <p:spPr>
          <a:xfrm>
            <a:off x="5897880" y="2651760"/>
            <a:ext cx="2788920" cy="685800"/>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Gold answers, source URLs, and evidence quotes still require manual review against the original pages.</a:t>
            </a:r>
            <a:endParaRPr lang="en-US" sz="1050" dirty="0"/>
          </a:p>
        </p:txBody>
      </p:sp>
      <p:sp>
        <p:nvSpPr>
          <p:cNvPr id="13" name="Shape 8"/>
          <p:cNvSpPr/>
          <p:nvPr/>
        </p:nvSpPr>
        <p:spPr>
          <a:xfrm>
            <a:off x="5257800" y="3383280"/>
            <a:ext cx="457200" cy="457200"/>
          </a:xfrm>
          <a:prstGeom prst="ellipse">
            <a:avLst/>
          </a:prstGeom>
          <a:solidFill>
            <a:srgbClr val="1B2A4A"/>
          </a:solidFill>
          <a:ln/>
        </p:spPr>
        <p:txBody>
          <a:bodyPr/>
          <a:lstStyle/>
          <a:p>
            <a:endParaRPr lang="en-US"/>
          </a:p>
        </p:txBody>
      </p:sp>
      <p:pic>
        <p:nvPicPr>
          <p:cNvPr id="14" name="Image 2" descr="assets/icons/scale_w.png"/>
          <p:cNvPicPr>
            <a:picLocks noChangeAspect="1"/>
          </p:cNvPicPr>
          <p:nvPr/>
        </p:nvPicPr>
        <p:blipFill>
          <a:blip r:embed="rId6"/>
          <a:stretch>
            <a:fillRect/>
          </a:stretch>
        </p:blipFill>
        <p:spPr>
          <a:xfrm>
            <a:off x="5381244" y="3506724"/>
            <a:ext cx="210312" cy="210312"/>
          </a:xfrm>
          <a:prstGeom prst="rect">
            <a:avLst/>
          </a:prstGeom>
        </p:spPr>
      </p:pic>
      <p:sp>
        <p:nvSpPr>
          <p:cNvPr id="15" name="Text 9"/>
          <p:cNvSpPr/>
          <p:nvPr/>
        </p:nvSpPr>
        <p:spPr>
          <a:xfrm>
            <a:off x="5897880" y="3355848"/>
            <a:ext cx="2743200" cy="2743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Stratified 60/40 split</a:t>
            </a:r>
            <a:endParaRPr lang="en-US" sz="1250" dirty="0"/>
          </a:p>
        </p:txBody>
      </p:sp>
      <p:sp>
        <p:nvSpPr>
          <p:cNvPr id="16" name="Text 10"/>
          <p:cNvSpPr/>
          <p:nvPr/>
        </p:nvSpPr>
        <p:spPr>
          <a:xfrm>
            <a:off x="5897880" y="3611880"/>
            <a:ext cx="2788920" cy="685800"/>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24 development items are used for tuning, while 16 held-out test items are reserved for one final evaluation run.</a:t>
            </a:r>
            <a:endParaRPr lang="en-US" sz="1050" dirty="0"/>
          </a:p>
        </p:txBody>
      </p:sp>
      <p:sp>
        <p:nvSpPr>
          <p:cNvPr id="17" name="Shape 11"/>
          <p:cNvSpPr/>
          <p:nvPr/>
        </p:nvSpPr>
        <p:spPr>
          <a:xfrm>
            <a:off x="502920" y="4370832"/>
            <a:ext cx="8138160" cy="411480"/>
          </a:xfrm>
          <a:prstGeom prst="roundRect">
            <a:avLst>
              <a:gd name="adj" fmla="val 17778"/>
            </a:avLst>
          </a:prstGeom>
          <a:solidFill>
            <a:srgbClr val="E9F0FB"/>
          </a:solidFill>
          <a:ln/>
        </p:spPr>
        <p:txBody>
          <a:bodyPr/>
          <a:lstStyle/>
          <a:p>
            <a:endParaRPr lang="en-US"/>
          </a:p>
        </p:txBody>
      </p:sp>
      <p:sp>
        <p:nvSpPr>
          <p:cNvPr id="18" name="Text 12"/>
          <p:cNvSpPr/>
          <p:nvPr/>
        </p:nvSpPr>
        <p:spPr>
          <a:xfrm>
            <a:off x="502920" y="4370832"/>
            <a:ext cx="8138160" cy="411480"/>
          </a:xfrm>
          <a:prstGeom prst="rect">
            <a:avLst/>
          </a:prstGeom>
          <a:noFill/>
          <a:ln/>
        </p:spPr>
        <p:txBody>
          <a:bodyPr wrap="square" lIns="0" tIns="0" rIns="0" bIns="0"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40 total  |  24 dev  |  16 test  |  Human verified:40 /40</a:t>
            </a:r>
            <a:endParaRPr lang="en-US" sz="1100" dirty="0"/>
          </a:p>
        </p:txBody>
      </p:sp>
      <p:sp>
        <p:nvSpPr>
          <p:cNvPr id="19" name="Text 1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TECHNICAL SUMMARY</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Performance Overview</a:t>
            </a:r>
            <a:endParaRPr lang="en-US" sz="2700" dirty="0"/>
          </a:p>
        </p:txBody>
      </p:sp>
      <p:sp>
        <p:nvSpPr>
          <p:cNvPr id="4" name="Text 2"/>
          <p:cNvSpPr/>
          <p:nvPr/>
        </p:nvSpPr>
        <p:spPr>
          <a:xfrm>
            <a:off x="502920" y="1261872"/>
            <a:ext cx="2596896" cy="274320"/>
          </a:xfrm>
          <a:prstGeom prst="rect">
            <a:avLst/>
          </a:prstGeom>
          <a:noFill/>
          <a:ln/>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Retrieval Accuracy</a:t>
            </a:r>
            <a:endParaRPr lang="en-US" sz="1350" dirty="0"/>
          </a:p>
        </p:txBody>
      </p:sp>
      <p:sp>
        <p:nvSpPr>
          <p:cNvPr id="5" name="Text 3"/>
          <p:cNvSpPr/>
          <p:nvPr/>
        </p:nvSpPr>
        <p:spPr>
          <a:xfrm>
            <a:off x="3273552" y="1261872"/>
            <a:ext cx="2596896" cy="274320"/>
          </a:xfrm>
          <a:prstGeom prst="rect">
            <a:avLst/>
          </a:prstGeom>
          <a:noFill/>
          <a:ln/>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Index and Embeddings</a:t>
            </a:r>
            <a:endParaRPr lang="en-US" sz="1350" dirty="0"/>
          </a:p>
        </p:txBody>
      </p:sp>
      <p:sp>
        <p:nvSpPr>
          <p:cNvPr id="6" name="Text 4"/>
          <p:cNvSpPr/>
          <p:nvPr/>
        </p:nvSpPr>
        <p:spPr>
          <a:xfrm>
            <a:off x="6044184" y="1261872"/>
            <a:ext cx="2596896" cy="274320"/>
          </a:xfrm>
          <a:prstGeom prst="rect">
            <a:avLst/>
          </a:prstGeom>
          <a:noFill/>
          <a:ln/>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Retrieval Pipeline</a:t>
            </a:r>
            <a:endParaRPr lang="en-US" sz="1350" dirty="0"/>
          </a:p>
        </p:txBody>
      </p:sp>
      <p:sp>
        <p:nvSpPr>
          <p:cNvPr id="7" name="Shape 5"/>
          <p:cNvSpPr/>
          <p:nvPr/>
        </p:nvSpPr>
        <p:spPr>
          <a:xfrm>
            <a:off x="502920" y="1609344"/>
            <a:ext cx="2596896" cy="932688"/>
          </a:xfrm>
          <a:prstGeom prst="roundRect">
            <a:avLst>
              <a:gd name="adj" fmla="val 7843"/>
            </a:avLst>
          </a:prstGeom>
          <a:solidFill>
            <a:srgbClr val="E9F0FB"/>
          </a:solidFill>
          <a:ln/>
        </p:spPr>
        <p:txBody>
          <a:bodyPr/>
          <a:lstStyle/>
          <a:p>
            <a:endParaRPr lang="en-US"/>
          </a:p>
        </p:txBody>
      </p:sp>
      <p:sp>
        <p:nvSpPr>
          <p:cNvPr id="8" name="Text 6"/>
          <p:cNvSpPr/>
          <p:nvPr/>
        </p:nvSpPr>
        <p:spPr>
          <a:xfrm>
            <a:off x="685800" y="1682496"/>
            <a:ext cx="2231136" cy="402336"/>
          </a:xfrm>
          <a:prstGeom prst="rect">
            <a:avLst/>
          </a:prstGeom>
          <a:noFill/>
          <a:ln/>
        </p:spPr>
        <p:txBody>
          <a:bodyPr wrap="square" lIns="0" tIns="0" rIns="0" bIns="0" rtlCol="0" anchor="ctr"/>
          <a:lstStyle/>
          <a:p>
            <a:pPr marL="0" indent="0">
              <a:buNone/>
            </a:pPr>
            <a:r>
              <a:rPr lang="en-US" sz="2600" b="1" dirty="0">
                <a:solidFill>
                  <a:srgbClr val="2563EB"/>
                </a:solidFill>
                <a:latin typeface="Cambria" pitchFamily="34" charset="0"/>
                <a:ea typeface="Cambria" pitchFamily="34" charset="-122"/>
                <a:cs typeface="Cambria" pitchFamily="34" charset="-120"/>
              </a:rPr>
              <a:t>80.0%</a:t>
            </a:r>
            <a:endParaRPr lang="en-US" sz="2600" dirty="0"/>
          </a:p>
        </p:txBody>
      </p:sp>
      <p:sp>
        <p:nvSpPr>
          <p:cNvPr id="9" name="Text 7"/>
          <p:cNvSpPr/>
          <p:nvPr/>
        </p:nvSpPr>
        <p:spPr>
          <a:xfrm>
            <a:off x="685800" y="2084832"/>
            <a:ext cx="2231136" cy="219456"/>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Top-5 Retrieval Accuracy</a:t>
            </a:r>
            <a:endParaRPr lang="en-US" sz="1100" dirty="0"/>
          </a:p>
        </p:txBody>
      </p:sp>
      <p:sp>
        <p:nvSpPr>
          <p:cNvPr id="10" name="Text 8"/>
          <p:cNvSpPr/>
          <p:nvPr/>
        </p:nvSpPr>
        <p:spPr>
          <a:xfrm>
            <a:off x="685800" y="2304288"/>
            <a:ext cx="2231136"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28 of 40 queries</a:t>
            </a:r>
            <a:endParaRPr lang="en-US" sz="950" dirty="0"/>
          </a:p>
        </p:txBody>
      </p:sp>
      <p:sp>
        <p:nvSpPr>
          <p:cNvPr id="11" name="Shape 9"/>
          <p:cNvSpPr/>
          <p:nvPr/>
        </p:nvSpPr>
        <p:spPr>
          <a:xfrm>
            <a:off x="502920" y="2651760"/>
            <a:ext cx="2596896" cy="932688"/>
          </a:xfrm>
          <a:prstGeom prst="roundRect">
            <a:avLst>
              <a:gd name="adj" fmla="val 7843"/>
            </a:avLst>
          </a:prstGeom>
          <a:solidFill>
            <a:srgbClr val="E9F0FB"/>
          </a:solidFill>
          <a:ln/>
        </p:spPr>
        <p:txBody>
          <a:bodyPr/>
          <a:lstStyle/>
          <a:p>
            <a:endParaRPr lang="en-US"/>
          </a:p>
        </p:txBody>
      </p:sp>
      <p:sp>
        <p:nvSpPr>
          <p:cNvPr id="12" name="Text 10"/>
          <p:cNvSpPr/>
          <p:nvPr/>
        </p:nvSpPr>
        <p:spPr>
          <a:xfrm>
            <a:off x="685800" y="2724912"/>
            <a:ext cx="2231136" cy="402336"/>
          </a:xfrm>
          <a:prstGeom prst="rect">
            <a:avLst/>
          </a:prstGeom>
          <a:noFill/>
          <a:ln/>
        </p:spPr>
        <p:txBody>
          <a:bodyPr wrap="square" lIns="0" tIns="0" rIns="0" bIns="0" rtlCol="0" anchor="ctr"/>
          <a:lstStyle/>
          <a:p>
            <a:pPr marL="0" indent="0">
              <a:buNone/>
            </a:pPr>
            <a:r>
              <a:rPr lang="en-US" sz="2600" b="1" dirty="0">
                <a:solidFill>
                  <a:srgbClr val="2563EB"/>
                </a:solidFill>
                <a:latin typeface="Cambria" pitchFamily="34" charset="0"/>
                <a:ea typeface="Cambria" pitchFamily="34" charset="-122"/>
                <a:cs typeface="Cambria" pitchFamily="34" charset="-120"/>
              </a:rPr>
              <a:t>91.5%</a:t>
            </a:r>
            <a:endParaRPr lang="en-US" sz="2600" dirty="0"/>
          </a:p>
        </p:txBody>
      </p:sp>
      <p:sp>
        <p:nvSpPr>
          <p:cNvPr id="13" name="Text 11"/>
          <p:cNvSpPr/>
          <p:nvPr/>
        </p:nvSpPr>
        <p:spPr>
          <a:xfrm>
            <a:off x="685800" y="3127248"/>
            <a:ext cx="2231136" cy="219456"/>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Top-20 Retrieval Accuracy</a:t>
            </a:r>
            <a:endParaRPr lang="en-US" sz="1100" dirty="0"/>
          </a:p>
        </p:txBody>
      </p:sp>
      <p:sp>
        <p:nvSpPr>
          <p:cNvPr id="14" name="Text 12"/>
          <p:cNvSpPr/>
          <p:nvPr/>
        </p:nvSpPr>
        <p:spPr>
          <a:xfrm>
            <a:off x="685800" y="3346704"/>
            <a:ext cx="2231136"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29 of 40 queries</a:t>
            </a:r>
            <a:endParaRPr lang="en-US" sz="950" dirty="0"/>
          </a:p>
        </p:txBody>
      </p:sp>
      <p:sp>
        <p:nvSpPr>
          <p:cNvPr id="15" name="Text 13"/>
          <p:cNvSpPr/>
          <p:nvPr/>
        </p:nvSpPr>
        <p:spPr>
          <a:xfrm>
            <a:off x="502920" y="3730752"/>
            <a:ext cx="2596896" cy="60350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The expected source appeared within the top 5 results for 70.0% of queries and within the top 20 for 72.5%.</a:t>
            </a:r>
            <a:endParaRPr lang="en-US" sz="950" dirty="0"/>
          </a:p>
        </p:txBody>
      </p:sp>
      <p:sp>
        <p:nvSpPr>
          <p:cNvPr id="16" name="Shape 14"/>
          <p:cNvSpPr/>
          <p:nvPr/>
        </p:nvSpPr>
        <p:spPr>
          <a:xfrm>
            <a:off x="3273552" y="1609344"/>
            <a:ext cx="2596896" cy="2029968"/>
          </a:xfrm>
          <a:prstGeom prst="roundRect">
            <a:avLst>
              <a:gd name="adj" fmla="val 3604"/>
            </a:avLst>
          </a:prstGeom>
          <a:solidFill>
            <a:srgbClr val="E9F0FB"/>
          </a:solidFill>
          <a:ln/>
        </p:spPr>
        <p:txBody>
          <a:bodyPr/>
          <a:lstStyle/>
          <a:p>
            <a:endParaRPr lang="en-US"/>
          </a:p>
        </p:txBody>
      </p:sp>
      <p:sp>
        <p:nvSpPr>
          <p:cNvPr id="17" name="Text 15"/>
          <p:cNvSpPr/>
          <p:nvPr/>
        </p:nvSpPr>
        <p:spPr>
          <a:xfrm>
            <a:off x="3419856" y="1755648"/>
            <a:ext cx="2304288" cy="1783080"/>
          </a:xfrm>
          <a:prstGeom prst="rect">
            <a:avLst/>
          </a:prstGeom>
          <a:noFill/>
          <a:ln/>
        </p:spPr>
        <p:txBody>
          <a:bodyPr wrap="square" lIns="0" tIns="0" rIns="0" bIns="0" rtlCol="0" anchor="ctr"/>
          <a:lstStyle/>
          <a:p>
            <a:pPr marL="342900" indent="-342900">
              <a:spcAft>
                <a:spcPts val="500"/>
              </a:spcAft>
              <a:buSzPct val="100000"/>
              <a:buChar char="•"/>
            </a:pPr>
            <a:r>
              <a:rPr lang="en-US" sz="1000" b="1" dirty="0">
                <a:solidFill>
                  <a:srgbClr val="1B2A4A"/>
                </a:solidFill>
                <a:latin typeface="Calibri" pitchFamily="34" charset="0"/>
                <a:ea typeface="Calibri" pitchFamily="34" charset="-122"/>
                <a:cs typeface="Calibri" pitchFamily="34" charset="-120"/>
              </a:rPr>
              <a:t>726 / 726 vectors indexed</a:t>
            </a:r>
            <a:endParaRPr lang="en-US" sz="1000" dirty="0"/>
          </a:p>
          <a:p>
            <a:pPr marL="342900" indent="-342900">
              <a:spcAft>
                <a:spcPts val="500"/>
              </a:spcAft>
              <a:buSzPct val="100000"/>
              <a:buChar char="•"/>
            </a:pPr>
            <a:r>
              <a:rPr lang="en-US" sz="1000" dirty="0">
                <a:solidFill>
                  <a:srgbClr val="33415C"/>
                </a:solidFill>
                <a:latin typeface="Calibri" pitchFamily="34" charset="0"/>
                <a:ea typeface="Calibri" pitchFamily="34" charset="-122"/>
                <a:cs typeface="Calibri" pitchFamily="34" charset="-120"/>
              </a:rPr>
              <a:t>384-dimensional BGE-small embeddings</a:t>
            </a:r>
            <a:endParaRPr lang="en-US" sz="1000" dirty="0"/>
          </a:p>
          <a:p>
            <a:pPr marL="342900" indent="-342900">
              <a:spcAft>
                <a:spcPts val="500"/>
              </a:spcAft>
              <a:buSzPct val="100000"/>
              <a:buChar char="•"/>
            </a:pPr>
            <a:r>
              <a:rPr lang="en-US" sz="1000" dirty="0">
                <a:solidFill>
                  <a:srgbClr val="33415C"/>
                </a:solidFill>
                <a:latin typeface="Calibri" pitchFamily="34" charset="0"/>
                <a:ea typeface="Calibri" pitchFamily="34" charset="-122"/>
                <a:cs typeface="Calibri" pitchFamily="34" charset="-120"/>
              </a:rPr>
              <a:t>L2-normalised vectors</a:t>
            </a:r>
            <a:endParaRPr lang="en-US" sz="1000" dirty="0"/>
          </a:p>
          <a:p>
            <a:pPr marL="342900" indent="-342900">
              <a:spcAft>
                <a:spcPts val="500"/>
              </a:spcAft>
              <a:buSzPct val="100000"/>
              <a:buChar char="•"/>
            </a:pPr>
            <a:r>
              <a:rPr lang="en-US" sz="1000" dirty="0">
                <a:solidFill>
                  <a:srgbClr val="33415C"/>
                </a:solidFill>
                <a:latin typeface="Calibri" pitchFamily="34" charset="0"/>
                <a:ea typeface="Calibri" pitchFamily="34" charset="-122"/>
                <a:cs typeface="Calibri" pitchFamily="34" charset="-120"/>
              </a:rPr>
              <a:t>Sample vector norm: 1.0</a:t>
            </a:r>
            <a:endParaRPr lang="en-US" sz="1000" dirty="0"/>
          </a:p>
          <a:p>
            <a:pPr marL="342900" indent="-342900">
              <a:spcAft>
                <a:spcPts val="500"/>
              </a:spcAft>
              <a:buSzPct val="100000"/>
              <a:buChar char="•"/>
            </a:pPr>
            <a:r>
              <a:rPr lang="en-US" sz="1000" dirty="0">
                <a:solidFill>
                  <a:srgbClr val="33415C"/>
                </a:solidFill>
                <a:latin typeface="Calibri" pitchFamily="34" charset="0"/>
                <a:ea typeface="Calibri" pitchFamily="34" charset="-122"/>
                <a:cs typeface="Calibri" pitchFamily="34" charset="-120"/>
              </a:rPr>
              <a:t>ChromaDB vector store</a:t>
            </a:r>
            <a:endParaRPr lang="en-US" sz="1000" dirty="0"/>
          </a:p>
          <a:p>
            <a:pPr marL="342900" indent="-342900">
              <a:spcAft>
                <a:spcPts val="500"/>
              </a:spcAft>
              <a:buSzPct val="100000"/>
              <a:buChar char="•"/>
            </a:pPr>
            <a:r>
              <a:rPr lang="en-US" sz="1000" dirty="0">
                <a:solidFill>
                  <a:srgbClr val="33415C"/>
                </a:solidFill>
                <a:latin typeface="Calibri" pitchFamily="34" charset="0"/>
                <a:ea typeface="Calibri" pitchFamily="34" charset="-122"/>
                <a:cs typeface="Calibri" pitchFamily="34" charset="-120"/>
              </a:rPr>
              <a:t>Old collection deleted before rebuild</a:t>
            </a:r>
            <a:endParaRPr lang="en-US" sz="1000" dirty="0"/>
          </a:p>
        </p:txBody>
      </p:sp>
      <p:sp>
        <p:nvSpPr>
          <p:cNvPr id="18" name="Text 16"/>
          <p:cNvSpPr/>
          <p:nvPr/>
        </p:nvSpPr>
        <p:spPr>
          <a:xfrm>
            <a:off x="3273552" y="3730752"/>
            <a:ext cx="2596896" cy="60350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All JSONL chunks matched the ChromaDB vector count, confirming index consistency after rebuild.</a:t>
            </a:r>
            <a:endParaRPr lang="en-US" sz="950" dirty="0"/>
          </a:p>
        </p:txBody>
      </p:sp>
      <p:sp>
        <p:nvSpPr>
          <p:cNvPr id="19" name="Shape 17"/>
          <p:cNvSpPr/>
          <p:nvPr/>
        </p:nvSpPr>
        <p:spPr>
          <a:xfrm>
            <a:off x="6044184" y="1609344"/>
            <a:ext cx="2596896" cy="292608"/>
          </a:xfrm>
          <a:prstGeom prst="roundRect">
            <a:avLst>
              <a:gd name="adj" fmla="val 18750"/>
            </a:avLst>
          </a:prstGeom>
          <a:solidFill>
            <a:srgbClr val="D7E3F6"/>
          </a:solidFill>
          <a:ln/>
        </p:spPr>
        <p:txBody>
          <a:bodyPr/>
          <a:lstStyle/>
          <a:p>
            <a:endParaRPr lang="en-US"/>
          </a:p>
        </p:txBody>
      </p:sp>
      <p:sp>
        <p:nvSpPr>
          <p:cNvPr id="20" name="Text 18"/>
          <p:cNvSpPr/>
          <p:nvPr/>
        </p:nvSpPr>
        <p:spPr>
          <a:xfrm>
            <a:off x="6044184" y="1609344"/>
            <a:ext cx="2596896" cy="292608"/>
          </a:xfrm>
          <a:prstGeom prst="rect">
            <a:avLst/>
          </a:prstGeom>
          <a:noFill/>
          <a:ln/>
        </p:spPr>
        <p:txBody>
          <a:bodyPr wrap="square" lIns="0" tIns="0" rIns="0" bIns="0" rtlCol="0" anchor="ctr"/>
          <a:lstStyle/>
          <a:p>
            <a:pPr marL="0" indent="0" algn="ctr">
              <a:buNone/>
            </a:pPr>
            <a:r>
              <a:rPr lang="en-US" sz="1050" b="1" dirty="0">
                <a:solidFill>
                  <a:srgbClr val="1B2A4A"/>
                </a:solidFill>
                <a:latin typeface="Calibri" pitchFamily="34" charset="0"/>
                <a:ea typeface="Calibri" pitchFamily="34" charset="-122"/>
                <a:cs typeface="Calibri" pitchFamily="34" charset="-120"/>
              </a:rPr>
              <a:t>Dense + BM25</a:t>
            </a:r>
            <a:endParaRPr lang="en-US" sz="1050" dirty="0"/>
          </a:p>
        </p:txBody>
      </p:sp>
      <p:sp>
        <p:nvSpPr>
          <p:cNvPr id="21" name="Text 19"/>
          <p:cNvSpPr/>
          <p:nvPr/>
        </p:nvSpPr>
        <p:spPr>
          <a:xfrm>
            <a:off x="6044184" y="1883664"/>
            <a:ext cx="2596896" cy="146304"/>
          </a:xfrm>
          <a:prstGeom prst="rect">
            <a:avLst/>
          </a:prstGeom>
          <a:noFill/>
          <a:ln/>
        </p:spPr>
        <p:txBody>
          <a:bodyPr wrap="square" lIns="0" tIns="0" rIns="0" bIns="0" rtlCol="0" anchor="ctr"/>
          <a:lstStyle/>
          <a:p>
            <a:pPr marL="0" indent="0" algn="ctr">
              <a:buNone/>
            </a:pPr>
            <a:r>
              <a:rPr lang="en-US" sz="900" b="1" dirty="0">
                <a:solidFill>
                  <a:srgbClr val="2563EB"/>
                </a:solidFill>
                <a:latin typeface="Calibri" pitchFamily="34" charset="0"/>
                <a:ea typeface="Calibri" pitchFamily="34" charset="-122"/>
                <a:cs typeface="Calibri" pitchFamily="34" charset="-120"/>
              </a:rPr>
              <a:t>v</a:t>
            </a:r>
            <a:endParaRPr lang="en-US" sz="900" dirty="0"/>
          </a:p>
        </p:txBody>
      </p:sp>
      <p:sp>
        <p:nvSpPr>
          <p:cNvPr id="22" name="Shape 20"/>
          <p:cNvSpPr/>
          <p:nvPr/>
        </p:nvSpPr>
        <p:spPr>
          <a:xfrm>
            <a:off x="6044184" y="2020824"/>
            <a:ext cx="2596896" cy="292608"/>
          </a:xfrm>
          <a:prstGeom prst="roundRect">
            <a:avLst>
              <a:gd name="adj" fmla="val 18750"/>
            </a:avLst>
          </a:prstGeom>
          <a:solidFill>
            <a:srgbClr val="D7E3F6"/>
          </a:solidFill>
          <a:ln/>
        </p:spPr>
        <p:txBody>
          <a:bodyPr/>
          <a:lstStyle/>
          <a:p>
            <a:endParaRPr lang="en-US"/>
          </a:p>
        </p:txBody>
      </p:sp>
      <p:sp>
        <p:nvSpPr>
          <p:cNvPr id="23" name="Text 21"/>
          <p:cNvSpPr/>
          <p:nvPr/>
        </p:nvSpPr>
        <p:spPr>
          <a:xfrm>
            <a:off x="6044184" y="2020824"/>
            <a:ext cx="2596896" cy="292608"/>
          </a:xfrm>
          <a:prstGeom prst="rect">
            <a:avLst/>
          </a:prstGeom>
          <a:noFill/>
          <a:ln/>
        </p:spPr>
        <p:txBody>
          <a:bodyPr wrap="square" lIns="0" tIns="0" rIns="0" bIns="0" rtlCol="0" anchor="ctr"/>
          <a:lstStyle/>
          <a:p>
            <a:pPr marL="0" indent="0" algn="ctr">
              <a:buNone/>
            </a:pPr>
            <a:r>
              <a:rPr lang="en-US" sz="1050" b="1" dirty="0">
                <a:solidFill>
                  <a:srgbClr val="1B2A4A"/>
                </a:solidFill>
                <a:latin typeface="Calibri" pitchFamily="34" charset="0"/>
                <a:ea typeface="Calibri" pitchFamily="34" charset="-122"/>
                <a:cs typeface="Calibri" pitchFamily="34" charset="-120"/>
              </a:rPr>
              <a:t>Top 20 candidates</a:t>
            </a:r>
            <a:endParaRPr lang="en-US" sz="1050" dirty="0"/>
          </a:p>
        </p:txBody>
      </p:sp>
      <p:sp>
        <p:nvSpPr>
          <p:cNvPr id="24" name="Text 22"/>
          <p:cNvSpPr/>
          <p:nvPr/>
        </p:nvSpPr>
        <p:spPr>
          <a:xfrm>
            <a:off x="6044184" y="2295144"/>
            <a:ext cx="2596896" cy="146304"/>
          </a:xfrm>
          <a:prstGeom prst="rect">
            <a:avLst/>
          </a:prstGeom>
          <a:noFill/>
          <a:ln/>
        </p:spPr>
        <p:txBody>
          <a:bodyPr wrap="square" lIns="0" tIns="0" rIns="0" bIns="0" rtlCol="0" anchor="ctr"/>
          <a:lstStyle/>
          <a:p>
            <a:pPr marL="0" indent="0" algn="ctr">
              <a:buNone/>
            </a:pPr>
            <a:r>
              <a:rPr lang="en-US" sz="900" b="1" dirty="0">
                <a:solidFill>
                  <a:srgbClr val="2563EB"/>
                </a:solidFill>
                <a:latin typeface="Calibri" pitchFamily="34" charset="0"/>
                <a:ea typeface="Calibri" pitchFamily="34" charset="-122"/>
                <a:cs typeface="Calibri" pitchFamily="34" charset="-120"/>
              </a:rPr>
              <a:t>v</a:t>
            </a:r>
            <a:endParaRPr lang="en-US" sz="900" dirty="0"/>
          </a:p>
        </p:txBody>
      </p:sp>
      <p:sp>
        <p:nvSpPr>
          <p:cNvPr id="25" name="Shape 23"/>
          <p:cNvSpPr/>
          <p:nvPr/>
        </p:nvSpPr>
        <p:spPr>
          <a:xfrm>
            <a:off x="6044184" y="2432304"/>
            <a:ext cx="2596896" cy="292608"/>
          </a:xfrm>
          <a:prstGeom prst="roundRect">
            <a:avLst>
              <a:gd name="adj" fmla="val 18750"/>
            </a:avLst>
          </a:prstGeom>
          <a:solidFill>
            <a:srgbClr val="D7E3F6"/>
          </a:solidFill>
          <a:ln/>
        </p:spPr>
        <p:txBody>
          <a:bodyPr/>
          <a:lstStyle/>
          <a:p>
            <a:endParaRPr lang="en-US"/>
          </a:p>
        </p:txBody>
      </p:sp>
      <p:sp>
        <p:nvSpPr>
          <p:cNvPr id="26" name="Text 24"/>
          <p:cNvSpPr/>
          <p:nvPr/>
        </p:nvSpPr>
        <p:spPr>
          <a:xfrm>
            <a:off x="6044184" y="2432304"/>
            <a:ext cx="2596896" cy="292608"/>
          </a:xfrm>
          <a:prstGeom prst="rect">
            <a:avLst/>
          </a:prstGeom>
          <a:noFill/>
          <a:ln/>
        </p:spPr>
        <p:txBody>
          <a:bodyPr wrap="square" lIns="0" tIns="0" rIns="0" bIns="0" rtlCol="0" anchor="ctr"/>
          <a:lstStyle/>
          <a:p>
            <a:pPr marL="0" indent="0" algn="ctr">
              <a:buNone/>
            </a:pPr>
            <a:r>
              <a:rPr lang="en-US" sz="1050" b="1" dirty="0">
                <a:solidFill>
                  <a:srgbClr val="1B2A4A"/>
                </a:solidFill>
                <a:latin typeface="Calibri" pitchFamily="34" charset="0"/>
                <a:ea typeface="Calibri" pitchFamily="34" charset="-122"/>
                <a:cs typeface="Calibri" pitchFamily="34" charset="-120"/>
              </a:rPr>
              <a:t>Reranker</a:t>
            </a:r>
            <a:endParaRPr lang="en-US" sz="1050" dirty="0"/>
          </a:p>
        </p:txBody>
      </p:sp>
      <p:sp>
        <p:nvSpPr>
          <p:cNvPr id="27" name="Text 25"/>
          <p:cNvSpPr/>
          <p:nvPr/>
        </p:nvSpPr>
        <p:spPr>
          <a:xfrm>
            <a:off x="6044184" y="2706624"/>
            <a:ext cx="2596896" cy="146304"/>
          </a:xfrm>
          <a:prstGeom prst="rect">
            <a:avLst/>
          </a:prstGeom>
          <a:noFill/>
          <a:ln/>
        </p:spPr>
        <p:txBody>
          <a:bodyPr wrap="square" lIns="0" tIns="0" rIns="0" bIns="0" rtlCol="0" anchor="ctr"/>
          <a:lstStyle/>
          <a:p>
            <a:pPr marL="0" indent="0" algn="ctr">
              <a:buNone/>
            </a:pPr>
            <a:r>
              <a:rPr lang="en-US" sz="900" b="1" dirty="0">
                <a:solidFill>
                  <a:srgbClr val="2563EB"/>
                </a:solidFill>
                <a:latin typeface="Calibri" pitchFamily="34" charset="0"/>
                <a:ea typeface="Calibri" pitchFamily="34" charset="-122"/>
                <a:cs typeface="Calibri" pitchFamily="34" charset="-120"/>
              </a:rPr>
              <a:t>v</a:t>
            </a:r>
            <a:endParaRPr lang="en-US" sz="900" dirty="0"/>
          </a:p>
        </p:txBody>
      </p:sp>
      <p:sp>
        <p:nvSpPr>
          <p:cNvPr id="28" name="Shape 26"/>
          <p:cNvSpPr/>
          <p:nvPr/>
        </p:nvSpPr>
        <p:spPr>
          <a:xfrm>
            <a:off x="6044184" y="2843784"/>
            <a:ext cx="2596896" cy="292608"/>
          </a:xfrm>
          <a:prstGeom prst="roundRect">
            <a:avLst>
              <a:gd name="adj" fmla="val 18750"/>
            </a:avLst>
          </a:prstGeom>
          <a:solidFill>
            <a:srgbClr val="1B2A4A"/>
          </a:solidFill>
          <a:ln/>
        </p:spPr>
        <p:txBody>
          <a:bodyPr/>
          <a:lstStyle/>
          <a:p>
            <a:endParaRPr lang="en-US"/>
          </a:p>
        </p:txBody>
      </p:sp>
      <p:sp>
        <p:nvSpPr>
          <p:cNvPr id="29" name="Text 27"/>
          <p:cNvSpPr/>
          <p:nvPr/>
        </p:nvSpPr>
        <p:spPr>
          <a:xfrm>
            <a:off x="6044184" y="2843784"/>
            <a:ext cx="259689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Top 5 chunks</a:t>
            </a:r>
            <a:endParaRPr lang="en-US" sz="1050" dirty="0"/>
          </a:p>
        </p:txBody>
      </p:sp>
      <p:sp>
        <p:nvSpPr>
          <p:cNvPr id="30" name="Text 28"/>
          <p:cNvSpPr/>
          <p:nvPr/>
        </p:nvSpPr>
        <p:spPr>
          <a:xfrm>
            <a:off x="6099048" y="3291840"/>
            <a:ext cx="2487168" cy="658368"/>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33415C"/>
                </a:solidFill>
                <a:latin typeface="Calibri" pitchFamily="34" charset="0"/>
                <a:ea typeface="Calibri" pitchFamily="34" charset="-122"/>
                <a:cs typeface="Calibri" pitchFamily="34" charset="-120"/>
              </a:rPr>
              <a:t>Fixed chunks: 584</a:t>
            </a:r>
            <a:endParaRPr lang="en-US" sz="950" dirty="0"/>
          </a:p>
          <a:p>
            <a:pPr marL="342900" indent="-342900">
              <a:spcAft>
                <a:spcPts val="200"/>
              </a:spcAft>
              <a:buSzPct val="100000"/>
              <a:buChar char="•"/>
            </a:pPr>
            <a:r>
              <a:rPr lang="en-US" sz="950" dirty="0">
                <a:solidFill>
                  <a:srgbClr val="33415C"/>
                </a:solidFill>
                <a:latin typeface="Calibri" pitchFamily="34" charset="0"/>
                <a:ea typeface="Calibri" pitchFamily="34" charset="-122"/>
                <a:cs typeface="Calibri" pitchFamily="34" charset="-120"/>
              </a:rPr>
              <a:t>Median estimated size: 344 tokens</a:t>
            </a:r>
            <a:endParaRPr lang="en-US" sz="950" dirty="0"/>
          </a:p>
          <a:p>
            <a:pPr marL="342900" indent="-342900">
              <a:spcAft>
                <a:spcPts val="200"/>
              </a:spcAft>
              <a:buSzPct val="100000"/>
              <a:buChar char="•"/>
            </a:pPr>
            <a:r>
              <a:rPr lang="en-US" sz="950" dirty="0">
                <a:solidFill>
                  <a:srgbClr val="33415C"/>
                </a:solidFill>
                <a:latin typeface="Calibri" pitchFamily="34" charset="0"/>
                <a:ea typeface="Calibri" pitchFamily="34" charset="-122"/>
                <a:cs typeface="Calibri" pitchFamily="34" charset="-120"/>
              </a:rPr>
              <a:t>Structure-aware chunks: 868</a:t>
            </a:r>
            <a:endParaRPr lang="en-US" sz="950" dirty="0"/>
          </a:p>
          <a:p>
            <a:pPr marL="342900" indent="-342900">
              <a:spcAft>
                <a:spcPts val="200"/>
              </a:spcAft>
              <a:buSzPct val="100000"/>
              <a:buChar char="•"/>
            </a:pPr>
            <a:r>
              <a:rPr lang="en-US" sz="950" dirty="0">
                <a:solidFill>
                  <a:srgbClr val="33415C"/>
                </a:solidFill>
                <a:latin typeface="Calibri" pitchFamily="34" charset="0"/>
                <a:ea typeface="Calibri" pitchFamily="34" charset="-122"/>
                <a:cs typeface="Calibri" pitchFamily="34" charset="-120"/>
              </a:rPr>
              <a:t>Median estimated size: 76 tokens</a:t>
            </a:r>
            <a:endParaRPr lang="en-US" sz="950" dirty="0"/>
          </a:p>
        </p:txBody>
      </p:sp>
      <p:sp>
        <p:nvSpPr>
          <p:cNvPr id="31" name="Text 29"/>
          <p:cNvSpPr/>
          <p:nvPr/>
        </p:nvSpPr>
        <p:spPr>
          <a:xfrm>
            <a:off x="6044184" y="3968496"/>
            <a:ext cx="2596896" cy="56692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Fixed chunking produced fewer, larger chunks, while structure-aware chunking produced more granular, heading-aligned chunks.</a:t>
            </a:r>
            <a:endParaRPr lang="en-US" sz="900" dirty="0"/>
          </a:p>
        </p:txBody>
      </p:sp>
      <p:sp>
        <p:nvSpPr>
          <p:cNvPr id="32" name="Shape 30"/>
          <p:cNvSpPr/>
          <p:nvPr/>
        </p:nvSpPr>
        <p:spPr>
          <a:xfrm>
            <a:off x="502920" y="4572000"/>
            <a:ext cx="8138160" cy="457200"/>
          </a:xfrm>
          <a:prstGeom prst="roundRect">
            <a:avLst>
              <a:gd name="adj" fmla="val 16000"/>
            </a:avLst>
          </a:prstGeom>
          <a:solidFill>
            <a:srgbClr val="1B2A4A"/>
          </a:solidFill>
          <a:ln/>
        </p:spPr>
        <p:txBody>
          <a:bodyPr/>
          <a:lstStyle/>
          <a:p>
            <a:endParaRPr lang="en-US"/>
          </a:p>
        </p:txBody>
      </p:sp>
      <p:sp>
        <p:nvSpPr>
          <p:cNvPr id="33" name="Text 31"/>
          <p:cNvSpPr/>
          <p:nvPr/>
        </p:nvSpPr>
        <p:spPr>
          <a:xfrm>
            <a:off x="685800" y="4572000"/>
            <a:ext cx="7772400" cy="4572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The final retrieval pipeline used normalised BGE embeddings, a validated ChromaDB index, hybrid dense and BM25 retrieval, and top-5 reranking across 40 evaluation queries.</a:t>
            </a:r>
            <a:endParaRPr lang="en-US" sz="1050" dirty="0"/>
          </a:p>
        </p:txBody>
      </p:sp>
      <p:sp>
        <p:nvSpPr>
          <p:cNvPr id="34" name="Text 32"/>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GROUNDING AND REFUSAL</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It knows when to say no</a:t>
            </a:r>
            <a:endParaRPr lang="en-US" sz="2700" dirty="0"/>
          </a:p>
        </p:txBody>
      </p:sp>
      <p:sp>
        <p:nvSpPr>
          <p:cNvPr id="4" name="Shape 2"/>
          <p:cNvSpPr/>
          <p:nvPr/>
        </p:nvSpPr>
        <p:spPr>
          <a:xfrm>
            <a:off x="502920" y="1325880"/>
            <a:ext cx="3200400" cy="3291840"/>
          </a:xfrm>
          <a:prstGeom prst="roundRect">
            <a:avLst>
              <a:gd name="adj" fmla="val 2286"/>
            </a:avLst>
          </a:prstGeom>
          <a:solidFill>
            <a:srgbClr val="D7E3F6"/>
          </a:solidFill>
          <a:ln/>
          <a:effectLst>
            <a:outerShdw blurRad="101600" dist="38100" dir="5400000" algn="bl" rotWithShape="0">
              <a:srgbClr val="9AA9C4">
                <a:alpha val="40000"/>
              </a:srgbClr>
            </a:outerShdw>
          </a:effectLst>
        </p:spPr>
        <p:txBody>
          <a:bodyPr/>
          <a:lstStyle/>
          <a:p>
            <a:endParaRPr lang="en-US"/>
          </a:p>
        </p:txBody>
      </p:sp>
      <p:sp>
        <p:nvSpPr>
          <p:cNvPr id="6" name="Text 3"/>
          <p:cNvSpPr/>
          <p:nvPr/>
        </p:nvSpPr>
        <p:spPr>
          <a:xfrm>
            <a:off x="658368" y="4315968"/>
            <a:ext cx="2926080" cy="36576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The bot collects brand and model before it troubleshoots.</a:t>
            </a:r>
            <a:endParaRPr lang="en-US" sz="1000" dirty="0"/>
          </a:p>
        </p:txBody>
      </p:sp>
      <p:sp>
        <p:nvSpPr>
          <p:cNvPr id="7" name="Shape 4"/>
          <p:cNvSpPr/>
          <p:nvPr/>
        </p:nvSpPr>
        <p:spPr>
          <a:xfrm>
            <a:off x="4069080" y="1325880"/>
            <a:ext cx="457200" cy="457200"/>
          </a:xfrm>
          <a:prstGeom prst="ellipse">
            <a:avLst/>
          </a:prstGeom>
          <a:solidFill>
            <a:srgbClr val="1B2A4A"/>
          </a:solidFill>
          <a:ln/>
        </p:spPr>
        <p:txBody>
          <a:bodyPr/>
          <a:lstStyle/>
          <a:p>
            <a:endParaRPr lang="en-US"/>
          </a:p>
        </p:txBody>
      </p:sp>
      <p:pic>
        <p:nvPicPr>
          <p:cNvPr id="8" name="Image 1" descr="assets/icons/ban_w.png"/>
          <p:cNvPicPr>
            <a:picLocks noChangeAspect="1"/>
          </p:cNvPicPr>
          <p:nvPr/>
        </p:nvPicPr>
        <p:blipFill>
          <a:blip r:embed="rId3"/>
          <a:stretch>
            <a:fillRect/>
          </a:stretch>
        </p:blipFill>
        <p:spPr>
          <a:xfrm>
            <a:off x="4192524" y="1449324"/>
            <a:ext cx="210312" cy="210312"/>
          </a:xfrm>
          <a:prstGeom prst="rect">
            <a:avLst/>
          </a:prstGeom>
        </p:spPr>
      </p:pic>
      <p:sp>
        <p:nvSpPr>
          <p:cNvPr id="9" name="Text 5"/>
          <p:cNvSpPr/>
          <p:nvPr/>
        </p:nvSpPr>
        <p:spPr>
          <a:xfrm>
            <a:off x="4709160" y="1298448"/>
            <a:ext cx="3931920"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Refuses instead of guessing</a:t>
            </a:r>
            <a:endParaRPr lang="en-US" sz="1250" dirty="0"/>
          </a:p>
        </p:txBody>
      </p:sp>
      <p:sp>
        <p:nvSpPr>
          <p:cNvPr id="10" name="Text 6"/>
          <p:cNvSpPr/>
          <p:nvPr/>
        </p:nvSpPr>
        <p:spPr>
          <a:xfrm>
            <a:off x="4709160" y="1570588"/>
            <a:ext cx="3931920" cy="566928"/>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On the 8 unanswerable items it refused 7 times. On answerable ones it over refused only 2 of 32.</a:t>
            </a:r>
            <a:endParaRPr lang="en-US" sz="1050" dirty="0"/>
          </a:p>
        </p:txBody>
      </p:sp>
      <p:sp>
        <p:nvSpPr>
          <p:cNvPr id="11" name="Shape 7"/>
          <p:cNvSpPr/>
          <p:nvPr/>
        </p:nvSpPr>
        <p:spPr>
          <a:xfrm>
            <a:off x="4069080" y="2221992"/>
            <a:ext cx="457200" cy="457200"/>
          </a:xfrm>
          <a:prstGeom prst="ellipse">
            <a:avLst/>
          </a:prstGeom>
          <a:solidFill>
            <a:srgbClr val="1B2A4A"/>
          </a:solidFill>
          <a:ln/>
        </p:spPr>
        <p:txBody>
          <a:bodyPr/>
          <a:lstStyle/>
          <a:p>
            <a:endParaRPr lang="en-US"/>
          </a:p>
        </p:txBody>
      </p:sp>
      <p:pic>
        <p:nvPicPr>
          <p:cNvPr id="12" name="Image 2" descr="assets/icons/shield_w.png"/>
          <p:cNvPicPr>
            <a:picLocks noChangeAspect="1"/>
          </p:cNvPicPr>
          <p:nvPr/>
        </p:nvPicPr>
        <p:blipFill>
          <a:blip r:embed="rId4"/>
          <a:stretch>
            <a:fillRect/>
          </a:stretch>
        </p:blipFill>
        <p:spPr>
          <a:xfrm>
            <a:off x="4192524" y="2345436"/>
            <a:ext cx="210312" cy="210312"/>
          </a:xfrm>
          <a:prstGeom prst="rect">
            <a:avLst/>
          </a:prstGeom>
        </p:spPr>
      </p:pic>
      <p:sp>
        <p:nvSpPr>
          <p:cNvPr id="13" name="Text 8"/>
          <p:cNvSpPr/>
          <p:nvPr/>
        </p:nvSpPr>
        <p:spPr>
          <a:xfrm>
            <a:off x="4709160" y="2194560"/>
            <a:ext cx="3931920"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Resists planted instructions</a:t>
            </a:r>
            <a:endParaRPr lang="en-US" sz="1250" dirty="0"/>
          </a:p>
        </p:txBody>
      </p:sp>
      <p:sp>
        <p:nvSpPr>
          <p:cNvPr id="14" name="Text 9"/>
          <p:cNvSpPr/>
          <p:nvPr/>
        </p:nvSpPr>
        <p:spPr>
          <a:xfrm>
            <a:off x="4709160" y="2441448"/>
            <a:ext cx="3931920" cy="566928"/>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We hid a page saying "ignore your previous instructions" in the corpus. The bot quoted around it and kept its rules.</a:t>
            </a:r>
            <a:endParaRPr lang="en-US" sz="1050" dirty="0"/>
          </a:p>
        </p:txBody>
      </p:sp>
      <p:sp>
        <p:nvSpPr>
          <p:cNvPr id="15" name="Shape 10"/>
          <p:cNvSpPr/>
          <p:nvPr/>
        </p:nvSpPr>
        <p:spPr>
          <a:xfrm>
            <a:off x="4069080" y="3118104"/>
            <a:ext cx="457200" cy="457200"/>
          </a:xfrm>
          <a:prstGeom prst="ellipse">
            <a:avLst/>
          </a:prstGeom>
          <a:solidFill>
            <a:srgbClr val="1B2A4A"/>
          </a:solidFill>
          <a:ln/>
        </p:spPr>
        <p:txBody>
          <a:bodyPr/>
          <a:lstStyle/>
          <a:p>
            <a:endParaRPr lang="en-US"/>
          </a:p>
        </p:txBody>
      </p:sp>
      <p:pic>
        <p:nvPicPr>
          <p:cNvPr id="16" name="Image 3" descr="assets/icons/link_w.png"/>
          <p:cNvPicPr>
            <a:picLocks noChangeAspect="1"/>
          </p:cNvPicPr>
          <p:nvPr/>
        </p:nvPicPr>
        <p:blipFill>
          <a:blip r:embed="rId5"/>
          <a:stretch>
            <a:fillRect/>
          </a:stretch>
        </p:blipFill>
        <p:spPr>
          <a:xfrm>
            <a:off x="4192524" y="3241548"/>
            <a:ext cx="210312" cy="210312"/>
          </a:xfrm>
          <a:prstGeom prst="rect">
            <a:avLst/>
          </a:prstGeom>
        </p:spPr>
      </p:pic>
      <p:sp>
        <p:nvSpPr>
          <p:cNvPr id="17" name="Text 11"/>
          <p:cNvSpPr/>
          <p:nvPr/>
        </p:nvSpPr>
        <p:spPr>
          <a:xfrm>
            <a:off x="4709160" y="3090672"/>
            <a:ext cx="3931920"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Citations that check out</a:t>
            </a:r>
            <a:endParaRPr lang="en-US" sz="1250" dirty="0"/>
          </a:p>
        </p:txBody>
      </p:sp>
      <p:sp>
        <p:nvSpPr>
          <p:cNvPr id="18" name="Text 12"/>
          <p:cNvSpPr/>
          <p:nvPr/>
        </p:nvSpPr>
        <p:spPr>
          <a:xfrm>
            <a:off x="4709160" y="3337560"/>
            <a:ext cx="3931920" cy="566928"/>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95% of cited links pointed to a page that truly supports the claim. Quotes are capped at 25 words.</a:t>
            </a:r>
            <a:endParaRPr lang="en-US" sz="1050" dirty="0"/>
          </a:p>
        </p:txBody>
      </p:sp>
      <p:sp>
        <p:nvSpPr>
          <p:cNvPr id="19" name="Shape 13"/>
          <p:cNvSpPr/>
          <p:nvPr/>
        </p:nvSpPr>
        <p:spPr>
          <a:xfrm>
            <a:off x="4069080" y="4014216"/>
            <a:ext cx="457200" cy="457200"/>
          </a:xfrm>
          <a:prstGeom prst="ellipse">
            <a:avLst/>
          </a:prstGeom>
          <a:solidFill>
            <a:srgbClr val="F59E0B"/>
          </a:solidFill>
          <a:ln/>
        </p:spPr>
        <p:txBody>
          <a:bodyPr/>
          <a:lstStyle/>
          <a:p>
            <a:endParaRPr lang="en-US"/>
          </a:p>
        </p:txBody>
      </p:sp>
      <p:pic>
        <p:nvPicPr>
          <p:cNvPr id="20" name="Image 4" descr="assets/icons/wrench_w.png"/>
          <p:cNvPicPr>
            <a:picLocks noChangeAspect="1"/>
          </p:cNvPicPr>
          <p:nvPr/>
        </p:nvPicPr>
        <p:blipFill>
          <a:blip r:embed="rId6"/>
          <a:stretch>
            <a:fillRect/>
          </a:stretch>
        </p:blipFill>
        <p:spPr>
          <a:xfrm>
            <a:off x="4192524" y="4137660"/>
            <a:ext cx="210312" cy="210312"/>
          </a:xfrm>
          <a:prstGeom prst="rect">
            <a:avLst/>
          </a:prstGeom>
        </p:spPr>
      </p:pic>
      <p:sp>
        <p:nvSpPr>
          <p:cNvPr id="21" name="Text 14"/>
          <p:cNvSpPr/>
          <p:nvPr/>
        </p:nvSpPr>
        <p:spPr>
          <a:xfrm>
            <a:off x="4709160" y="3986784"/>
            <a:ext cx="3931920" cy="25603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Hands off the risky stuff</a:t>
            </a:r>
            <a:endParaRPr lang="en-US" sz="1250" dirty="0"/>
          </a:p>
        </p:txBody>
      </p:sp>
      <p:sp>
        <p:nvSpPr>
          <p:cNvPr id="22" name="Text 15"/>
          <p:cNvSpPr/>
          <p:nvPr/>
        </p:nvSpPr>
        <p:spPr>
          <a:xfrm>
            <a:off x="4709160" y="4233672"/>
            <a:ext cx="3931920" cy="566928"/>
          </a:xfrm>
          <a:prstGeom prst="rect">
            <a:avLst/>
          </a:prstGeom>
          <a:noFill/>
          <a:ln/>
        </p:spPr>
        <p:txBody>
          <a:bodyPr wrap="square" lIns="0" tIns="0" rIns="0" bIns="0" rtlCol="0" anchor="ctr"/>
          <a:lstStyle/>
          <a:p>
            <a:pPr marL="0" indent="0">
              <a:buNone/>
            </a:pPr>
            <a:r>
              <a:rPr lang="en-US" sz="1050" dirty="0">
                <a:solidFill>
                  <a:srgbClr val="33415C"/>
                </a:solidFill>
                <a:latin typeface="Calibri" pitchFamily="34" charset="0"/>
                <a:ea typeface="Calibri" pitchFamily="34" charset="-122"/>
                <a:cs typeface="Calibri" pitchFamily="34" charset="-120"/>
              </a:rPr>
              <a:t>Gas, wiring and warranty questions get a clear referral to a qualified technician.</a:t>
            </a:r>
            <a:endParaRPr lang="en-US" sz="1050" dirty="0"/>
          </a:p>
        </p:txBody>
      </p:sp>
      <p:sp>
        <p:nvSpPr>
          <p:cNvPr id="23" name="Text 16"/>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pic>
        <p:nvPicPr>
          <p:cNvPr id="25" name="Picture 24">
            <a:extLst>
              <a:ext uri="{FF2B5EF4-FFF2-40B4-BE49-F238E27FC236}">
                <a16:creationId xmlns:a16="http://schemas.microsoft.com/office/drawing/2014/main" id="{B87E931F-34F2-8E6E-E042-367554D5AEE7}"/>
              </a:ext>
            </a:extLst>
          </p:cNvPr>
          <p:cNvPicPr>
            <a:picLocks noChangeAspect="1"/>
          </p:cNvPicPr>
          <p:nvPr/>
        </p:nvPicPr>
        <p:blipFill>
          <a:blip r:embed="rId7"/>
          <a:stretch>
            <a:fillRect/>
          </a:stretch>
        </p:blipFill>
        <p:spPr>
          <a:xfrm>
            <a:off x="87129" y="1325880"/>
            <a:ext cx="3687271" cy="369642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ERROR ANALYSIS</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We separated expected no-source cases from genuine retrieval errors</a:t>
            </a:r>
            <a:endParaRPr lang="en-US" sz="2700" dirty="0"/>
          </a:p>
        </p:txBody>
      </p:sp>
      <p:sp>
        <p:nvSpPr>
          <p:cNvPr id="4" name="Shape 2"/>
          <p:cNvSpPr/>
          <p:nvPr/>
        </p:nvSpPr>
        <p:spPr>
          <a:xfrm>
            <a:off x="502920" y="1481328"/>
            <a:ext cx="4572000" cy="749808"/>
          </a:xfrm>
          <a:prstGeom prst="roundRect">
            <a:avLst>
              <a:gd name="adj" fmla="val 9756"/>
            </a:avLst>
          </a:prstGeom>
          <a:solidFill>
            <a:srgbClr val="E9F0FB"/>
          </a:solidFill>
          <a:ln/>
        </p:spPr>
        <p:txBody>
          <a:bodyPr/>
          <a:lstStyle/>
          <a:p>
            <a:endParaRPr lang="en-US"/>
          </a:p>
        </p:txBody>
      </p:sp>
      <p:sp>
        <p:nvSpPr>
          <p:cNvPr id="5" name="Shape 3"/>
          <p:cNvSpPr/>
          <p:nvPr/>
        </p:nvSpPr>
        <p:spPr>
          <a:xfrm>
            <a:off x="502920" y="1481328"/>
            <a:ext cx="1417320" cy="749808"/>
          </a:xfrm>
          <a:prstGeom prst="roundRect">
            <a:avLst>
              <a:gd name="adj" fmla="val 9756"/>
            </a:avLst>
          </a:prstGeom>
          <a:solidFill>
            <a:srgbClr val="2E9E5B"/>
          </a:solidFill>
          <a:ln/>
        </p:spPr>
        <p:txBody>
          <a:bodyPr/>
          <a:lstStyle/>
          <a:p>
            <a:endParaRPr lang="en-US"/>
          </a:p>
        </p:txBody>
      </p:sp>
      <p:sp>
        <p:nvSpPr>
          <p:cNvPr id="6" name="Text 4"/>
          <p:cNvSpPr/>
          <p:nvPr/>
        </p:nvSpPr>
        <p:spPr>
          <a:xfrm>
            <a:off x="502920" y="1481328"/>
            <a:ext cx="1417320" cy="749808"/>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29 / 40</a:t>
            </a:r>
            <a:endParaRPr lang="en-US" sz="2100" dirty="0"/>
          </a:p>
        </p:txBody>
      </p:sp>
      <p:sp>
        <p:nvSpPr>
          <p:cNvPr id="7" name="Text 5"/>
          <p:cNvSpPr/>
          <p:nvPr/>
        </p:nvSpPr>
        <p:spPr>
          <a:xfrm>
            <a:off x="2084832" y="1481328"/>
            <a:ext cx="2880360" cy="749808"/>
          </a:xfrm>
          <a:prstGeom prst="rect">
            <a:avLst/>
          </a:prstGeom>
          <a:noFill/>
          <a:ln/>
        </p:spPr>
        <p:txBody>
          <a:bodyPr wrap="square" lIns="0" tIns="0" rIns="0" bIns="0" rtlCol="0" anchor="ctr"/>
          <a:lstStyle/>
          <a:p>
            <a:pPr marL="0" indent="0">
              <a:buNone/>
            </a:pPr>
            <a:r>
              <a:rPr lang="en-US" sz="1150" dirty="0">
                <a:solidFill>
                  <a:srgbClr val="1B2A4A"/>
                </a:solidFill>
                <a:latin typeface="Calibri" pitchFamily="34" charset="0"/>
                <a:ea typeface="Calibri" pitchFamily="34" charset="-122"/>
                <a:cs typeface="Calibri" pitchFamily="34" charset="-120"/>
              </a:rPr>
              <a:t>Expected source retrieved in the top 20</a:t>
            </a:r>
            <a:endParaRPr lang="en-US" sz="1150" dirty="0"/>
          </a:p>
        </p:txBody>
      </p:sp>
      <p:sp>
        <p:nvSpPr>
          <p:cNvPr id="8" name="Shape 6"/>
          <p:cNvSpPr/>
          <p:nvPr/>
        </p:nvSpPr>
        <p:spPr>
          <a:xfrm>
            <a:off x="502920" y="2340864"/>
            <a:ext cx="4572000" cy="749808"/>
          </a:xfrm>
          <a:prstGeom prst="roundRect">
            <a:avLst>
              <a:gd name="adj" fmla="val 9756"/>
            </a:avLst>
          </a:prstGeom>
          <a:solidFill>
            <a:srgbClr val="E9F0FB"/>
          </a:solidFill>
          <a:ln/>
        </p:spPr>
        <p:txBody>
          <a:bodyPr/>
          <a:lstStyle/>
          <a:p>
            <a:endParaRPr lang="en-US"/>
          </a:p>
        </p:txBody>
      </p:sp>
      <p:sp>
        <p:nvSpPr>
          <p:cNvPr id="9" name="Shape 7"/>
          <p:cNvSpPr/>
          <p:nvPr/>
        </p:nvSpPr>
        <p:spPr>
          <a:xfrm>
            <a:off x="502920" y="2340864"/>
            <a:ext cx="1417320" cy="749808"/>
          </a:xfrm>
          <a:prstGeom prst="roundRect">
            <a:avLst>
              <a:gd name="adj" fmla="val 9756"/>
            </a:avLst>
          </a:prstGeom>
          <a:solidFill>
            <a:srgbClr val="64748B"/>
          </a:solidFill>
          <a:ln/>
        </p:spPr>
        <p:txBody>
          <a:bodyPr/>
          <a:lstStyle/>
          <a:p>
            <a:endParaRPr lang="en-US"/>
          </a:p>
        </p:txBody>
      </p:sp>
      <p:sp>
        <p:nvSpPr>
          <p:cNvPr id="10" name="Text 8"/>
          <p:cNvSpPr/>
          <p:nvPr/>
        </p:nvSpPr>
        <p:spPr>
          <a:xfrm>
            <a:off x="502920" y="2340864"/>
            <a:ext cx="1417320" cy="749808"/>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10 / 40</a:t>
            </a:r>
            <a:endParaRPr lang="en-US" sz="2100" dirty="0"/>
          </a:p>
        </p:txBody>
      </p:sp>
      <p:sp>
        <p:nvSpPr>
          <p:cNvPr id="11" name="Text 9"/>
          <p:cNvSpPr/>
          <p:nvPr/>
        </p:nvSpPr>
        <p:spPr>
          <a:xfrm>
            <a:off x="2084832" y="2340864"/>
            <a:ext cx="2880360" cy="749808"/>
          </a:xfrm>
          <a:prstGeom prst="rect">
            <a:avLst/>
          </a:prstGeom>
          <a:noFill/>
          <a:ln/>
        </p:spPr>
        <p:txBody>
          <a:bodyPr wrap="square" lIns="0" tIns="0" rIns="0" bIns="0" rtlCol="0" anchor="ctr"/>
          <a:lstStyle/>
          <a:p>
            <a:pPr marL="0" indent="0">
              <a:buNone/>
            </a:pPr>
            <a:r>
              <a:rPr lang="en-US" sz="1150" dirty="0">
                <a:solidFill>
                  <a:srgbClr val="1B2A4A"/>
                </a:solidFill>
                <a:latin typeface="Calibri" pitchFamily="34" charset="0"/>
                <a:ea typeface="Calibri" pitchFamily="34" charset="-122"/>
                <a:cs typeface="Calibri" pitchFamily="34" charset="-120"/>
              </a:rPr>
              <a:t>Intentionally unanswerable or ambiguous queries with no expected source</a:t>
            </a:r>
            <a:endParaRPr lang="en-US" sz="1150" dirty="0"/>
          </a:p>
        </p:txBody>
      </p:sp>
      <p:sp>
        <p:nvSpPr>
          <p:cNvPr id="12" name="Shape 10"/>
          <p:cNvSpPr/>
          <p:nvPr/>
        </p:nvSpPr>
        <p:spPr>
          <a:xfrm>
            <a:off x="502920" y="3200400"/>
            <a:ext cx="4572000" cy="749808"/>
          </a:xfrm>
          <a:prstGeom prst="roundRect">
            <a:avLst>
              <a:gd name="adj" fmla="val 9756"/>
            </a:avLst>
          </a:prstGeom>
          <a:solidFill>
            <a:srgbClr val="E9F0FB"/>
          </a:solidFill>
          <a:ln/>
        </p:spPr>
        <p:txBody>
          <a:bodyPr/>
          <a:lstStyle/>
          <a:p>
            <a:endParaRPr lang="en-US"/>
          </a:p>
        </p:txBody>
      </p:sp>
      <p:sp>
        <p:nvSpPr>
          <p:cNvPr id="13" name="Shape 11"/>
          <p:cNvSpPr/>
          <p:nvPr/>
        </p:nvSpPr>
        <p:spPr>
          <a:xfrm>
            <a:off x="502920" y="3200400"/>
            <a:ext cx="1417320" cy="749808"/>
          </a:xfrm>
          <a:prstGeom prst="roundRect">
            <a:avLst>
              <a:gd name="adj" fmla="val 9756"/>
            </a:avLst>
          </a:prstGeom>
          <a:solidFill>
            <a:srgbClr val="F59E0B"/>
          </a:solidFill>
          <a:ln/>
        </p:spPr>
        <p:txBody>
          <a:bodyPr/>
          <a:lstStyle/>
          <a:p>
            <a:endParaRPr lang="en-US"/>
          </a:p>
        </p:txBody>
      </p:sp>
      <p:sp>
        <p:nvSpPr>
          <p:cNvPr id="14" name="Text 12"/>
          <p:cNvSpPr/>
          <p:nvPr/>
        </p:nvSpPr>
        <p:spPr>
          <a:xfrm>
            <a:off x="502920" y="3200400"/>
            <a:ext cx="1417320" cy="749808"/>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 / 40</a:t>
            </a:r>
            <a:endParaRPr lang="en-US" sz="2100" dirty="0"/>
          </a:p>
        </p:txBody>
      </p:sp>
      <p:sp>
        <p:nvSpPr>
          <p:cNvPr id="15" name="Text 13"/>
          <p:cNvSpPr/>
          <p:nvPr/>
        </p:nvSpPr>
        <p:spPr>
          <a:xfrm>
            <a:off x="2084832" y="3200400"/>
            <a:ext cx="2880360" cy="749808"/>
          </a:xfrm>
          <a:prstGeom prst="rect">
            <a:avLst/>
          </a:prstGeom>
          <a:noFill/>
          <a:ln/>
        </p:spPr>
        <p:txBody>
          <a:bodyPr wrap="square" lIns="0" tIns="0" rIns="0" bIns="0" rtlCol="0" anchor="ctr"/>
          <a:lstStyle/>
          <a:p>
            <a:pPr marL="0" indent="0">
              <a:buNone/>
            </a:pPr>
            <a:r>
              <a:rPr lang="en-US" sz="1150" dirty="0">
                <a:solidFill>
                  <a:srgbClr val="1B2A4A"/>
                </a:solidFill>
                <a:latin typeface="Calibri" pitchFamily="34" charset="0"/>
                <a:ea typeface="Calibri" pitchFamily="34" charset="-122"/>
                <a:cs typeface="Calibri" pitchFamily="34" charset="-120"/>
              </a:rPr>
              <a:t>Confirmed answerable retrieval miss</a:t>
            </a:r>
            <a:endParaRPr lang="en-US" sz="1150" dirty="0"/>
          </a:p>
        </p:txBody>
      </p:sp>
      <p:sp>
        <p:nvSpPr>
          <p:cNvPr id="16" name="Text 14"/>
          <p:cNvSpPr/>
          <p:nvPr/>
        </p:nvSpPr>
        <p:spPr>
          <a:xfrm>
            <a:off x="502920" y="4114800"/>
            <a:ext cx="4572000" cy="502920"/>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Recall@20: 91.5%  |  Top-20 retrieval successes: 29  |  Expected no-source/clarification cases: 10  |  Confirmed answerable miss: 1</a:t>
            </a:r>
            <a:endParaRPr lang="en-US" sz="950" dirty="0"/>
          </a:p>
        </p:txBody>
      </p:sp>
      <p:sp>
        <p:nvSpPr>
          <p:cNvPr id="17" name="Shape 15"/>
          <p:cNvSpPr/>
          <p:nvPr/>
        </p:nvSpPr>
        <p:spPr>
          <a:xfrm>
            <a:off x="5257800" y="1371600"/>
            <a:ext cx="3383280" cy="3246120"/>
          </a:xfrm>
          <a:prstGeom prst="roundRect">
            <a:avLst>
              <a:gd name="adj" fmla="val 2535"/>
            </a:avLst>
          </a:prstGeom>
          <a:solidFill>
            <a:srgbClr val="E9F0FB"/>
          </a:solidFill>
          <a:ln/>
        </p:spPr>
        <p:txBody>
          <a:bodyPr/>
          <a:lstStyle/>
          <a:p>
            <a:endParaRPr lang="en-US"/>
          </a:p>
        </p:txBody>
      </p:sp>
      <p:sp>
        <p:nvSpPr>
          <p:cNvPr id="18" name="Text 16"/>
          <p:cNvSpPr/>
          <p:nvPr/>
        </p:nvSpPr>
        <p:spPr>
          <a:xfrm>
            <a:off x="5486400" y="1517904"/>
            <a:ext cx="2926080" cy="45720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What the current error analysis shows</a:t>
            </a:r>
            <a:endParaRPr lang="en-US" sz="1300" dirty="0"/>
          </a:p>
        </p:txBody>
      </p:sp>
      <p:sp>
        <p:nvSpPr>
          <p:cNvPr id="19" name="Text 17"/>
          <p:cNvSpPr/>
          <p:nvPr/>
        </p:nvSpPr>
        <p:spPr>
          <a:xfrm>
            <a:off x="5486400" y="1847088"/>
            <a:ext cx="2971800" cy="2651760"/>
          </a:xfrm>
          <a:prstGeom prst="rect">
            <a:avLst/>
          </a:prstGeom>
          <a:noFill/>
          <a:ln/>
        </p:spPr>
        <p:txBody>
          <a:bodyPr wrap="square" lIns="0" tIns="0" rIns="0" bIns="0" rtlCol="0" anchor="ctr"/>
          <a:lstStyle/>
          <a:p>
            <a:pPr marL="342900" indent="-342900">
              <a:spcAft>
                <a:spcPts val="400"/>
              </a:spcAft>
              <a:buSzPct val="100000"/>
              <a:buChar char="•"/>
            </a:pPr>
            <a:r>
              <a:rPr lang="en-US" sz="850" dirty="0">
                <a:solidFill>
                  <a:srgbClr val="33415C"/>
                </a:solidFill>
                <a:latin typeface="Calibri" pitchFamily="34" charset="0"/>
                <a:ea typeface="Calibri" pitchFamily="34" charset="-122"/>
                <a:cs typeface="Calibri" pitchFamily="34" charset="-120"/>
              </a:rPr>
              <a:t>Most Recall@20 misses were expected because some queries were intentionally unanswerable or ambiguous.</a:t>
            </a:r>
            <a:endParaRPr lang="en-US" sz="850" dirty="0"/>
          </a:p>
          <a:p>
            <a:pPr marL="342900" indent="-342900">
              <a:spcAft>
                <a:spcPts val="400"/>
              </a:spcAft>
              <a:buSzPct val="100000"/>
              <a:buChar char="•"/>
            </a:pPr>
            <a:r>
              <a:rPr lang="en-US" sz="850" dirty="0">
                <a:solidFill>
                  <a:srgbClr val="33415C"/>
                </a:solidFill>
                <a:latin typeface="Calibri" pitchFamily="34" charset="0"/>
                <a:ea typeface="Calibri" pitchFamily="34" charset="-122"/>
                <a:cs typeface="Calibri" pitchFamily="34" charset="-120"/>
              </a:rPr>
              <a:t>Ten queries had no required source document and should not be counted as genuine retrieval failures.</a:t>
            </a:r>
            <a:endParaRPr lang="en-US" sz="850" dirty="0"/>
          </a:p>
          <a:p>
            <a:pPr marL="342900" indent="-342900">
              <a:spcAft>
                <a:spcPts val="400"/>
              </a:spcAft>
              <a:buSzPct val="100000"/>
              <a:buChar char="•"/>
            </a:pPr>
            <a:r>
              <a:rPr lang="en-US" sz="850" dirty="0">
                <a:solidFill>
                  <a:srgbClr val="33415C"/>
                </a:solidFill>
                <a:latin typeface="Calibri" pitchFamily="34" charset="0"/>
                <a:ea typeface="Calibri" pitchFamily="34" charset="-122"/>
                <a:cs typeface="Calibri" pitchFamily="34" charset="-120"/>
              </a:rPr>
              <a:t>One answerable query did not retrieve the expected source within the top 20 results.</a:t>
            </a:r>
            <a:endParaRPr lang="en-US" sz="850" dirty="0"/>
          </a:p>
          <a:p>
            <a:pPr marL="342900" indent="-342900">
              <a:spcAft>
                <a:spcPts val="400"/>
              </a:spcAft>
              <a:buSzPct val="100000"/>
              <a:buChar char="•"/>
            </a:pPr>
            <a:r>
              <a:rPr lang="en-US" sz="850" dirty="0">
                <a:solidFill>
                  <a:srgbClr val="33415C"/>
                </a:solidFill>
                <a:latin typeface="Calibri" pitchFamily="34" charset="0"/>
                <a:ea typeface="Calibri" pitchFamily="34" charset="-122"/>
                <a:cs typeface="Calibri" pitchFamily="34" charset="-120"/>
              </a:rPr>
              <a:t>The current evaluator measures retrieval only. Generator errors, citation problems, over-refusals, and hallucinations are not yet classified.</a:t>
            </a:r>
            <a:endParaRPr lang="en-US" sz="850" dirty="0"/>
          </a:p>
          <a:p>
            <a:pPr marL="342900" indent="-342900">
              <a:spcAft>
                <a:spcPts val="400"/>
              </a:spcAft>
              <a:buSzPct val="100000"/>
              <a:buChar char="•"/>
            </a:pPr>
            <a:r>
              <a:rPr lang="en-US" sz="850" dirty="0">
                <a:solidFill>
                  <a:srgbClr val="33415C"/>
                </a:solidFill>
                <a:latin typeface="Calibri" pitchFamily="34" charset="0"/>
                <a:ea typeface="Calibri" pitchFamily="34" charset="-122"/>
                <a:cs typeface="Calibri" pitchFamily="34" charset="-120"/>
              </a:rPr>
              <a:t>Manual root-cause labelling is still required for the professor-required 15-case failure analysis.</a:t>
            </a:r>
            <a:endParaRPr lang="en-US" sz="850" dirty="0"/>
          </a:p>
        </p:txBody>
      </p:sp>
      <p:sp>
        <p:nvSpPr>
          <p:cNvPr id="20" name="Shape 18"/>
          <p:cNvSpPr/>
          <p:nvPr/>
        </p:nvSpPr>
        <p:spPr>
          <a:xfrm>
            <a:off x="502920" y="4590288"/>
            <a:ext cx="8138160" cy="457200"/>
          </a:xfrm>
          <a:prstGeom prst="roundRect">
            <a:avLst>
              <a:gd name="adj" fmla="val 16000"/>
            </a:avLst>
          </a:prstGeom>
          <a:solidFill>
            <a:srgbClr val="2E9E5B"/>
          </a:solidFill>
          <a:ln/>
        </p:spPr>
        <p:txBody>
          <a:bodyPr/>
          <a:lstStyle/>
          <a:p>
            <a:endParaRPr lang="en-US"/>
          </a:p>
        </p:txBody>
      </p:sp>
      <p:sp>
        <p:nvSpPr>
          <p:cNvPr id="21" name="Text 19"/>
          <p:cNvSpPr/>
          <p:nvPr/>
        </p:nvSpPr>
        <p:spPr>
          <a:xfrm>
            <a:off x="685800" y="4590288"/>
            <a:ext cx="777240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The raw failure count is misleading unless intentionally unanswerable and ambiguous queries are separated from genuine retrieval failures.</a:t>
            </a:r>
            <a:endParaRPr lang="en-US" sz="1050" dirty="0"/>
          </a:p>
        </p:txBody>
      </p:sp>
      <p:sp>
        <p:nvSpPr>
          <p:cNvPr id="22" name="Text 20"/>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LLM GENERATION</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How the LLM turns retrieved evidence into a grounded answer</a:t>
            </a:r>
            <a:endParaRPr lang="en-US" sz="2700" dirty="0"/>
          </a:p>
        </p:txBody>
      </p:sp>
      <p:sp>
        <p:nvSpPr>
          <p:cNvPr id="4" name="Shape 2"/>
          <p:cNvSpPr/>
          <p:nvPr/>
        </p:nvSpPr>
        <p:spPr>
          <a:xfrm>
            <a:off x="502920" y="1417320"/>
            <a:ext cx="1481328" cy="1965960"/>
          </a:xfrm>
          <a:prstGeom prst="roundRect">
            <a:avLst>
              <a:gd name="adj" fmla="val 4938"/>
            </a:avLst>
          </a:prstGeom>
          <a:solidFill>
            <a:srgbClr val="E9F0FB"/>
          </a:solidFill>
          <a:ln/>
        </p:spPr>
        <p:txBody>
          <a:bodyPr/>
          <a:lstStyle/>
          <a:p>
            <a:endParaRPr lang="en-US"/>
          </a:p>
        </p:txBody>
      </p:sp>
      <p:sp>
        <p:nvSpPr>
          <p:cNvPr id="5" name="Shape 3"/>
          <p:cNvSpPr/>
          <p:nvPr/>
        </p:nvSpPr>
        <p:spPr>
          <a:xfrm>
            <a:off x="1042416" y="1563624"/>
            <a:ext cx="402336" cy="402336"/>
          </a:xfrm>
          <a:prstGeom prst="ellipse">
            <a:avLst/>
          </a:prstGeom>
          <a:solidFill>
            <a:srgbClr val="2563EB"/>
          </a:solidFill>
          <a:ln/>
        </p:spPr>
        <p:txBody>
          <a:bodyPr/>
          <a:lstStyle/>
          <a:p>
            <a:endParaRPr lang="en-US"/>
          </a:p>
        </p:txBody>
      </p:sp>
      <p:sp>
        <p:nvSpPr>
          <p:cNvPr id="6" name="Text 4"/>
          <p:cNvSpPr/>
          <p:nvPr/>
        </p:nvSpPr>
        <p:spPr>
          <a:xfrm>
            <a:off x="1042416" y="156362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594360" y="2039112"/>
            <a:ext cx="1298448" cy="457200"/>
          </a:xfrm>
          <a:prstGeom prst="rect">
            <a:avLst/>
          </a:prstGeom>
          <a:noFill/>
          <a:ln/>
        </p:spPr>
        <p:txBody>
          <a:bodyPr wrap="square" lIns="0" tIns="0" rIns="0" bIns="0" rtlCol="0" anchor="t"/>
          <a:lstStyle/>
          <a:p>
            <a:pPr marL="0" indent="0" algn="ctr">
              <a:buNone/>
            </a:pPr>
            <a:r>
              <a:rPr lang="en-US" sz="1150" b="1" dirty="0">
                <a:solidFill>
                  <a:srgbClr val="1B2A4A"/>
                </a:solidFill>
                <a:latin typeface="Calibri" pitchFamily="34" charset="0"/>
                <a:ea typeface="Calibri" pitchFamily="34" charset="-122"/>
                <a:cs typeface="Calibri" pitchFamily="34" charset="-120"/>
              </a:rPr>
              <a:t>User question</a:t>
            </a:r>
            <a:endParaRPr lang="en-US" sz="1150" dirty="0"/>
          </a:p>
        </p:txBody>
      </p:sp>
      <p:sp>
        <p:nvSpPr>
          <p:cNvPr id="8" name="Text 6"/>
          <p:cNvSpPr/>
          <p:nvPr/>
        </p:nvSpPr>
        <p:spPr>
          <a:xfrm>
            <a:off x="594360" y="2478024"/>
            <a:ext cx="1298448" cy="841248"/>
          </a:xfrm>
          <a:prstGeom prst="rect">
            <a:avLst/>
          </a:prstGeom>
          <a:noFill/>
          <a:ln/>
        </p:spPr>
        <p:txBody>
          <a:bodyPr wrap="square" lIns="0" tIns="0" rIns="0" bIns="0" rtlCol="0" anchor="t"/>
          <a:lstStyle/>
          <a:p>
            <a:pPr marL="0" indent="0" algn="ctr">
              <a:buNone/>
            </a:pPr>
            <a:r>
              <a:rPr lang="en-US" sz="850" dirty="0">
                <a:solidFill>
                  <a:srgbClr val="33415C"/>
                </a:solidFill>
                <a:latin typeface="Calibri" pitchFamily="34" charset="0"/>
                <a:ea typeface="Calibri" pitchFamily="34" charset="-122"/>
                <a:cs typeface="Calibri" pitchFamily="34" charset="-120"/>
              </a:rPr>
              <a:t>The user asks a troubleshooting question. The system collects the brand, appliance type, and model when needed.</a:t>
            </a:r>
            <a:endParaRPr lang="en-US" sz="850" dirty="0"/>
          </a:p>
        </p:txBody>
      </p:sp>
      <p:sp>
        <p:nvSpPr>
          <p:cNvPr id="9" name="Text 7"/>
          <p:cNvSpPr/>
          <p:nvPr/>
        </p:nvSpPr>
        <p:spPr>
          <a:xfrm>
            <a:off x="1965960" y="2057400"/>
            <a:ext cx="210312" cy="457200"/>
          </a:xfrm>
          <a:prstGeom prst="rect">
            <a:avLst/>
          </a:prstGeom>
          <a:noFill/>
          <a:ln/>
        </p:spPr>
        <p:txBody>
          <a:bodyPr wrap="square" lIns="0" tIns="0" rIns="0" bIns="0" rtlCol="0" anchor="ctr"/>
          <a:lstStyle/>
          <a:p>
            <a:pPr marL="0" indent="0" algn="ctr">
              <a:buNone/>
            </a:pPr>
            <a:r>
              <a:rPr lang="en-US" sz="1700" b="1" dirty="0">
                <a:solidFill>
                  <a:srgbClr val="2563EB"/>
                </a:solidFill>
                <a:latin typeface="Calibri" pitchFamily="34" charset="0"/>
                <a:ea typeface="Calibri" pitchFamily="34" charset="-122"/>
                <a:cs typeface="Calibri" pitchFamily="34" charset="-120"/>
              </a:rPr>
              <a:t>&gt;</a:t>
            </a:r>
            <a:endParaRPr lang="en-US" sz="1700" dirty="0"/>
          </a:p>
        </p:txBody>
      </p:sp>
      <p:sp>
        <p:nvSpPr>
          <p:cNvPr id="10" name="Shape 8"/>
          <p:cNvSpPr/>
          <p:nvPr/>
        </p:nvSpPr>
        <p:spPr>
          <a:xfrm>
            <a:off x="2157984" y="1417320"/>
            <a:ext cx="1481328" cy="1965960"/>
          </a:xfrm>
          <a:prstGeom prst="roundRect">
            <a:avLst>
              <a:gd name="adj" fmla="val 4938"/>
            </a:avLst>
          </a:prstGeom>
          <a:solidFill>
            <a:srgbClr val="E9F0FB"/>
          </a:solidFill>
          <a:ln/>
        </p:spPr>
        <p:txBody>
          <a:bodyPr/>
          <a:lstStyle/>
          <a:p>
            <a:endParaRPr lang="en-US"/>
          </a:p>
        </p:txBody>
      </p:sp>
      <p:sp>
        <p:nvSpPr>
          <p:cNvPr id="11" name="Shape 9"/>
          <p:cNvSpPr/>
          <p:nvPr/>
        </p:nvSpPr>
        <p:spPr>
          <a:xfrm>
            <a:off x="2697480" y="1563624"/>
            <a:ext cx="402336" cy="402336"/>
          </a:xfrm>
          <a:prstGeom prst="ellipse">
            <a:avLst/>
          </a:prstGeom>
          <a:solidFill>
            <a:srgbClr val="2563EB"/>
          </a:solidFill>
          <a:ln/>
        </p:spPr>
        <p:txBody>
          <a:bodyPr/>
          <a:lstStyle/>
          <a:p>
            <a:endParaRPr lang="en-US"/>
          </a:p>
        </p:txBody>
      </p:sp>
      <p:sp>
        <p:nvSpPr>
          <p:cNvPr id="12" name="Text 10"/>
          <p:cNvSpPr/>
          <p:nvPr/>
        </p:nvSpPr>
        <p:spPr>
          <a:xfrm>
            <a:off x="2697480" y="156362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249424" y="2039112"/>
            <a:ext cx="1298448" cy="457200"/>
          </a:xfrm>
          <a:prstGeom prst="rect">
            <a:avLst/>
          </a:prstGeom>
          <a:noFill/>
          <a:ln/>
        </p:spPr>
        <p:txBody>
          <a:bodyPr wrap="square" lIns="0" tIns="0" rIns="0" bIns="0" rtlCol="0" anchor="t"/>
          <a:lstStyle/>
          <a:p>
            <a:pPr marL="0" indent="0" algn="ctr">
              <a:buNone/>
            </a:pPr>
            <a:r>
              <a:rPr lang="en-US" sz="1150" b="1" dirty="0">
                <a:solidFill>
                  <a:srgbClr val="1B2A4A"/>
                </a:solidFill>
                <a:latin typeface="Calibri" pitchFamily="34" charset="0"/>
                <a:ea typeface="Calibri" pitchFamily="34" charset="-122"/>
                <a:cs typeface="Calibri" pitchFamily="34" charset="-120"/>
              </a:rPr>
              <a:t>Top 5 reranked chunks</a:t>
            </a:r>
            <a:endParaRPr lang="en-US" sz="1150" dirty="0"/>
          </a:p>
        </p:txBody>
      </p:sp>
      <p:sp>
        <p:nvSpPr>
          <p:cNvPr id="14" name="Text 12"/>
          <p:cNvSpPr/>
          <p:nvPr/>
        </p:nvSpPr>
        <p:spPr>
          <a:xfrm>
            <a:off x="2249424" y="2478024"/>
            <a:ext cx="1298448" cy="841248"/>
          </a:xfrm>
          <a:prstGeom prst="rect">
            <a:avLst/>
          </a:prstGeom>
          <a:noFill/>
          <a:ln/>
        </p:spPr>
        <p:txBody>
          <a:bodyPr wrap="square" lIns="0" tIns="0" rIns="0" bIns="0" rtlCol="0" anchor="t"/>
          <a:lstStyle/>
          <a:p>
            <a:pPr marL="0" indent="0" algn="ctr">
              <a:buNone/>
            </a:pPr>
            <a:r>
              <a:rPr lang="en-US" sz="850" dirty="0">
                <a:solidFill>
                  <a:srgbClr val="33415C"/>
                </a:solidFill>
                <a:latin typeface="Calibri" pitchFamily="34" charset="0"/>
                <a:ea typeface="Calibri" pitchFamily="34" charset="-122"/>
                <a:cs typeface="Calibri" pitchFamily="34" charset="-120"/>
              </a:rPr>
              <a:t>The retrieval pipeline sends the five most relevant official-document chunks, with source titles and URLs.</a:t>
            </a:r>
            <a:endParaRPr lang="en-US" sz="850" dirty="0"/>
          </a:p>
        </p:txBody>
      </p:sp>
      <p:sp>
        <p:nvSpPr>
          <p:cNvPr id="15" name="Text 13"/>
          <p:cNvSpPr/>
          <p:nvPr/>
        </p:nvSpPr>
        <p:spPr>
          <a:xfrm>
            <a:off x="3621024" y="2057400"/>
            <a:ext cx="210312" cy="457200"/>
          </a:xfrm>
          <a:prstGeom prst="rect">
            <a:avLst/>
          </a:prstGeom>
          <a:noFill/>
          <a:ln/>
        </p:spPr>
        <p:txBody>
          <a:bodyPr wrap="square" lIns="0" tIns="0" rIns="0" bIns="0" rtlCol="0" anchor="ctr"/>
          <a:lstStyle/>
          <a:p>
            <a:pPr marL="0" indent="0" algn="ctr">
              <a:buNone/>
            </a:pPr>
            <a:r>
              <a:rPr lang="en-US" sz="1700" b="1" dirty="0">
                <a:solidFill>
                  <a:srgbClr val="2563EB"/>
                </a:solidFill>
                <a:latin typeface="Calibri" pitchFamily="34" charset="0"/>
                <a:ea typeface="Calibri" pitchFamily="34" charset="-122"/>
                <a:cs typeface="Calibri" pitchFamily="34" charset="-120"/>
              </a:rPr>
              <a:t>&gt;</a:t>
            </a:r>
            <a:endParaRPr lang="en-US" sz="1700" dirty="0"/>
          </a:p>
        </p:txBody>
      </p:sp>
      <p:sp>
        <p:nvSpPr>
          <p:cNvPr id="16" name="Shape 14"/>
          <p:cNvSpPr/>
          <p:nvPr/>
        </p:nvSpPr>
        <p:spPr>
          <a:xfrm>
            <a:off x="3813048" y="1417320"/>
            <a:ext cx="1481328" cy="1965960"/>
          </a:xfrm>
          <a:prstGeom prst="roundRect">
            <a:avLst>
              <a:gd name="adj" fmla="val 4938"/>
            </a:avLst>
          </a:prstGeom>
          <a:solidFill>
            <a:srgbClr val="E9F0FB"/>
          </a:solidFill>
          <a:ln/>
        </p:spPr>
        <p:txBody>
          <a:bodyPr/>
          <a:lstStyle/>
          <a:p>
            <a:endParaRPr lang="en-US"/>
          </a:p>
        </p:txBody>
      </p:sp>
      <p:sp>
        <p:nvSpPr>
          <p:cNvPr id="17" name="Shape 15"/>
          <p:cNvSpPr/>
          <p:nvPr/>
        </p:nvSpPr>
        <p:spPr>
          <a:xfrm>
            <a:off x="4352544" y="1563624"/>
            <a:ext cx="402336" cy="402336"/>
          </a:xfrm>
          <a:prstGeom prst="ellipse">
            <a:avLst/>
          </a:prstGeom>
          <a:solidFill>
            <a:srgbClr val="2563EB"/>
          </a:solidFill>
          <a:ln/>
        </p:spPr>
        <p:txBody>
          <a:bodyPr/>
          <a:lstStyle/>
          <a:p>
            <a:endParaRPr lang="en-US"/>
          </a:p>
        </p:txBody>
      </p:sp>
      <p:sp>
        <p:nvSpPr>
          <p:cNvPr id="18" name="Text 16"/>
          <p:cNvSpPr/>
          <p:nvPr/>
        </p:nvSpPr>
        <p:spPr>
          <a:xfrm>
            <a:off x="4352544" y="156362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3904488" y="2039112"/>
            <a:ext cx="1298448" cy="457200"/>
          </a:xfrm>
          <a:prstGeom prst="rect">
            <a:avLst/>
          </a:prstGeom>
          <a:noFill/>
          <a:ln/>
        </p:spPr>
        <p:txBody>
          <a:bodyPr wrap="square" lIns="0" tIns="0" rIns="0" bIns="0" rtlCol="0" anchor="t"/>
          <a:lstStyle/>
          <a:p>
            <a:pPr marL="0" indent="0" algn="ctr">
              <a:buNone/>
            </a:pPr>
            <a:r>
              <a:rPr lang="en-US" sz="1150" b="1" dirty="0">
                <a:solidFill>
                  <a:srgbClr val="1B2A4A"/>
                </a:solidFill>
                <a:latin typeface="Calibri" pitchFamily="34" charset="0"/>
                <a:ea typeface="Calibri" pitchFamily="34" charset="-122"/>
                <a:cs typeface="Calibri" pitchFamily="34" charset="-120"/>
              </a:rPr>
              <a:t>Grounding prompt</a:t>
            </a:r>
            <a:endParaRPr lang="en-US" sz="1150" dirty="0"/>
          </a:p>
        </p:txBody>
      </p:sp>
      <p:sp>
        <p:nvSpPr>
          <p:cNvPr id="20" name="Text 18"/>
          <p:cNvSpPr/>
          <p:nvPr/>
        </p:nvSpPr>
        <p:spPr>
          <a:xfrm>
            <a:off x="3904488" y="2478024"/>
            <a:ext cx="1298448" cy="841248"/>
          </a:xfrm>
          <a:prstGeom prst="rect">
            <a:avLst/>
          </a:prstGeom>
          <a:noFill/>
          <a:ln/>
        </p:spPr>
        <p:txBody>
          <a:bodyPr wrap="square" lIns="0" tIns="0" rIns="0" bIns="0" rtlCol="0" anchor="t"/>
          <a:lstStyle/>
          <a:p>
            <a:pPr marL="0" indent="0" algn="ctr">
              <a:buNone/>
            </a:pPr>
            <a:r>
              <a:rPr lang="en-US" sz="850" dirty="0">
                <a:solidFill>
                  <a:srgbClr val="33415C"/>
                </a:solidFill>
                <a:latin typeface="Calibri" pitchFamily="34" charset="0"/>
                <a:ea typeface="Calibri" pitchFamily="34" charset="-122"/>
                <a:cs typeface="Calibri" pitchFamily="34" charset="-120"/>
              </a:rPr>
              <a:t>The prompt tells the model to answer only from the supplied context, cite the source, and refuse when evidence is thin.</a:t>
            </a:r>
            <a:endParaRPr lang="en-US" sz="850" dirty="0"/>
          </a:p>
        </p:txBody>
      </p:sp>
      <p:sp>
        <p:nvSpPr>
          <p:cNvPr id="21" name="Text 19"/>
          <p:cNvSpPr/>
          <p:nvPr/>
        </p:nvSpPr>
        <p:spPr>
          <a:xfrm>
            <a:off x="5276088" y="2057400"/>
            <a:ext cx="210312" cy="457200"/>
          </a:xfrm>
          <a:prstGeom prst="rect">
            <a:avLst/>
          </a:prstGeom>
          <a:noFill/>
          <a:ln/>
        </p:spPr>
        <p:txBody>
          <a:bodyPr wrap="square" lIns="0" tIns="0" rIns="0" bIns="0" rtlCol="0" anchor="ctr"/>
          <a:lstStyle/>
          <a:p>
            <a:pPr marL="0" indent="0" algn="ctr">
              <a:buNone/>
            </a:pPr>
            <a:r>
              <a:rPr lang="en-US" sz="1700" b="1" dirty="0">
                <a:solidFill>
                  <a:srgbClr val="2563EB"/>
                </a:solidFill>
                <a:latin typeface="Calibri" pitchFamily="34" charset="0"/>
                <a:ea typeface="Calibri" pitchFamily="34" charset="-122"/>
                <a:cs typeface="Calibri" pitchFamily="34" charset="-120"/>
              </a:rPr>
              <a:t>&gt;</a:t>
            </a:r>
            <a:endParaRPr lang="en-US" sz="1700" dirty="0"/>
          </a:p>
        </p:txBody>
      </p:sp>
      <p:sp>
        <p:nvSpPr>
          <p:cNvPr id="22" name="Shape 20"/>
          <p:cNvSpPr/>
          <p:nvPr/>
        </p:nvSpPr>
        <p:spPr>
          <a:xfrm>
            <a:off x="5468112" y="1417320"/>
            <a:ext cx="1481328" cy="1965960"/>
          </a:xfrm>
          <a:prstGeom prst="roundRect">
            <a:avLst>
              <a:gd name="adj" fmla="val 4938"/>
            </a:avLst>
          </a:prstGeom>
          <a:solidFill>
            <a:srgbClr val="E9F0FB"/>
          </a:solidFill>
          <a:ln/>
        </p:spPr>
        <p:txBody>
          <a:bodyPr/>
          <a:lstStyle/>
          <a:p>
            <a:endParaRPr lang="en-US"/>
          </a:p>
        </p:txBody>
      </p:sp>
      <p:sp>
        <p:nvSpPr>
          <p:cNvPr id="23" name="Shape 21"/>
          <p:cNvSpPr/>
          <p:nvPr/>
        </p:nvSpPr>
        <p:spPr>
          <a:xfrm>
            <a:off x="6007608" y="1563624"/>
            <a:ext cx="402336" cy="402336"/>
          </a:xfrm>
          <a:prstGeom prst="ellipse">
            <a:avLst/>
          </a:prstGeom>
          <a:solidFill>
            <a:srgbClr val="2563EB"/>
          </a:solidFill>
          <a:ln/>
        </p:spPr>
        <p:txBody>
          <a:bodyPr/>
          <a:lstStyle/>
          <a:p>
            <a:endParaRPr lang="en-US"/>
          </a:p>
        </p:txBody>
      </p:sp>
      <p:sp>
        <p:nvSpPr>
          <p:cNvPr id="24" name="Text 22"/>
          <p:cNvSpPr/>
          <p:nvPr/>
        </p:nvSpPr>
        <p:spPr>
          <a:xfrm>
            <a:off x="6007608" y="156362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5559552" y="2039112"/>
            <a:ext cx="1298448" cy="457200"/>
          </a:xfrm>
          <a:prstGeom prst="rect">
            <a:avLst/>
          </a:prstGeom>
          <a:noFill/>
          <a:ln/>
        </p:spPr>
        <p:txBody>
          <a:bodyPr wrap="square" lIns="0" tIns="0" rIns="0" bIns="0" rtlCol="0" anchor="t"/>
          <a:lstStyle/>
          <a:p>
            <a:pPr marL="0" indent="0" algn="ctr">
              <a:buNone/>
            </a:pPr>
            <a:r>
              <a:rPr lang="en-US" sz="1150" b="1" dirty="0">
                <a:solidFill>
                  <a:srgbClr val="1B2A4A"/>
                </a:solidFill>
                <a:latin typeface="Calibri" pitchFamily="34" charset="0"/>
                <a:ea typeface="Calibri" pitchFamily="34" charset="-122"/>
                <a:cs typeface="Calibri" pitchFamily="34" charset="-120"/>
              </a:rPr>
              <a:t>Qwen2.5 via Ollama</a:t>
            </a:r>
            <a:endParaRPr lang="en-US" sz="1150" dirty="0"/>
          </a:p>
        </p:txBody>
      </p:sp>
      <p:sp>
        <p:nvSpPr>
          <p:cNvPr id="26" name="Text 24"/>
          <p:cNvSpPr/>
          <p:nvPr/>
        </p:nvSpPr>
        <p:spPr>
          <a:xfrm>
            <a:off x="5559552" y="2478024"/>
            <a:ext cx="1298448" cy="841248"/>
          </a:xfrm>
          <a:prstGeom prst="rect">
            <a:avLst/>
          </a:prstGeom>
          <a:noFill/>
          <a:ln/>
        </p:spPr>
        <p:txBody>
          <a:bodyPr wrap="square" lIns="0" tIns="0" rIns="0" bIns="0" rtlCol="0" anchor="t"/>
          <a:lstStyle/>
          <a:p>
            <a:pPr marL="0" indent="0" algn="ctr">
              <a:buNone/>
            </a:pPr>
            <a:r>
              <a:rPr lang="en-US" sz="850" dirty="0">
                <a:solidFill>
                  <a:srgbClr val="33415C"/>
                </a:solidFill>
                <a:latin typeface="Calibri" pitchFamily="34" charset="0"/>
                <a:ea typeface="Calibri" pitchFamily="34" charset="-122"/>
                <a:cs typeface="Calibri" pitchFamily="34" charset="-120"/>
              </a:rPr>
              <a:t>The local LLM turns the retrieved evidence into a concise troubleshooting response.</a:t>
            </a:r>
            <a:endParaRPr lang="en-US" sz="850" dirty="0"/>
          </a:p>
        </p:txBody>
      </p:sp>
      <p:sp>
        <p:nvSpPr>
          <p:cNvPr id="27" name="Text 25"/>
          <p:cNvSpPr/>
          <p:nvPr/>
        </p:nvSpPr>
        <p:spPr>
          <a:xfrm>
            <a:off x="6931152" y="2057400"/>
            <a:ext cx="210312" cy="457200"/>
          </a:xfrm>
          <a:prstGeom prst="rect">
            <a:avLst/>
          </a:prstGeom>
          <a:noFill/>
          <a:ln/>
        </p:spPr>
        <p:txBody>
          <a:bodyPr wrap="square" lIns="0" tIns="0" rIns="0" bIns="0" rtlCol="0" anchor="ctr"/>
          <a:lstStyle/>
          <a:p>
            <a:pPr marL="0" indent="0" algn="ctr">
              <a:buNone/>
            </a:pPr>
            <a:r>
              <a:rPr lang="en-US" sz="1700" b="1" dirty="0">
                <a:solidFill>
                  <a:srgbClr val="2563EB"/>
                </a:solidFill>
                <a:latin typeface="Calibri" pitchFamily="34" charset="0"/>
                <a:ea typeface="Calibri" pitchFamily="34" charset="-122"/>
                <a:cs typeface="Calibri" pitchFamily="34" charset="-120"/>
              </a:rPr>
              <a:t>&gt;</a:t>
            </a:r>
            <a:endParaRPr lang="en-US" sz="1700" dirty="0"/>
          </a:p>
        </p:txBody>
      </p:sp>
      <p:sp>
        <p:nvSpPr>
          <p:cNvPr id="28" name="Shape 26"/>
          <p:cNvSpPr/>
          <p:nvPr/>
        </p:nvSpPr>
        <p:spPr>
          <a:xfrm>
            <a:off x="7123176" y="1417320"/>
            <a:ext cx="1481328" cy="1965960"/>
          </a:xfrm>
          <a:prstGeom prst="roundRect">
            <a:avLst>
              <a:gd name="adj" fmla="val 4938"/>
            </a:avLst>
          </a:prstGeom>
          <a:solidFill>
            <a:srgbClr val="1B2A4A"/>
          </a:solidFill>
          <a:ln/>
        </p:spPr>
        <p:txBody>
          <a:bodyPr/>
          <a:lstStyle/>
          <a:p>
            <a:endParaRPr lang="en-US"/>
          </a:p>
        </p:txBody>
      </p:sp>
      <p:sp>
        <p:nvSpPr>
          <p:cNvPr id="29" name="Shape 27"/>
          <p:cNvSpPr/>
          <p:nvPr/>
        </p:nvSpPr>
        <p:spPr>
          <a:xfrm>
            <a:off x="7662672" y="1563624"/>
            <a:ext cx="402336" cy="402336"/>
          </a:xfrm>
          <a:prstGeom prst="ellipse">
            <a:avLst/>
          </a:prstGeom>
          <a:solidFill>
            <a:srgbClr val="F59E0B"/>
          </a:solidFill>
          <a:ln/>
        </p:spPr>
        <p:txBody>
          <a:bodyPr/>
          <a:lstStyle/>
          <a:p>
            <a:endParaRPr lang="en-US"/>
          </a:p>
        </p:txBody>
      </p:sp>
      <p:sp>
        <p:nvSpPr>
          <p:cNvPr id="30" name="Text 28"/>
          <p:cNvSpPr/>
          <p:nvPr/>
        </p:nvSpPr>
        <p:spPr>
          <a:xfrm>
            <a:off x="7662672" y="156362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7214616" y="2039112"/>
            <a:ext cx="1298448" cy="45720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Cited answer or refusal</a:t>
            </a:r>
            <a:endParaRPr lang="en-US" sz="1150" dirty="0"/>
          </a:p>
        </p:txBody>
      </p:sp>
      <p:sp>
        <p:nvSpPr>
          <p:cNvPr id="32" name="Text 30"/>
          <p:cNvSpPr/>
          <p:nvPr/>
        </p:nvSpPr>
        <p:spPr>
          <a:xfrm>
            <a:off x="7214616" y="2478024"/>
            <a:ext cx="1298448" cy="841248"/>
          </a:xfrm>
          <a:prstGeom prst="rect">
            <a:avLst/>
          </a:prstGeom>
          <a:noFill/>
          <a:ln/>
        </p:spPr>
        <p:txBody>
          <a:bodyPr wrap="square" lIns="0" tIns="0" rIns="0" bIns="0" rtlCol="0" anchor="t"/>
          <a:lstStyle/>
          <a:p>
            <a:pPr marL="0" indent="0" algn="ctr">
              <a:buNone/>
            </a:pPr>
            <a:r>
              <a:rPr lang="en-US" sz="850" dirty="0">
                <a:solidFill>
                  <a:srgbClr val="D7E3F6"/>
                </a:solidFill>
                <a:latin typeface="Calibri" pitchFamily="34" charset="0"/>
                <a:ea typeface="Calibri" pitchFamily="34" charset="-122"/>
                <a:cs typeface="Calibri" pitchFamily="34" charset="-120"/>
              </a:rPr>
              <a:t>The model is instructed to return a grounded answer with a source link, or refuse when the retrieved evidence is insufficient.</a:t>
            </a:r>
            <a:endParaRPr lang="en-US" sz="850" dirty="0"/>
          </a:p>
        </p:txBody>
      </p:sp>
      <p:sp>
        <p:nvSpPr>
          <p:cNvPr id="33" name="Shape 31"/>
          <p:cNvSpPr/>
          <p:nvPr/>
        </p:nvSpPr>
        <p:spPr>
          <a:xfrm>
            <a:off x="502920" y="3639312"/>
            <a:ext cx="2596896" cy="914400"/>
          </a:xfrm>
          <a:prstGeom prst="roundRect">
            <a:avLst>
              <a:gd name="adj" fmla="val 8000"/>
            </a:avLst>
          </a:prstGeom>
          <a:solidFill>
            <a:srgbClr val="D7E3F6"/>
          </a:solidFill>
          <a:ln/>
        </p:spPr>
        <p:txBody>
          <a:bodyPr/>
          <a:lstStyle/>
          <a:p>
            <a:endParaRPr lang="en-US"/>
          </a:p>
        </p:txBody>
      </p:sp>
      <p:sp>
        <p:nvSpPr>
          <p:cNvPr id="34" name="Text 32"/>
          <p:cNvSpPr/>
          <p:nvPr/>
        </p:nvSpPr>
        <p:spPr>
          <a:xfrm>
            <a:off x="667512" y="3730752"/>
            <a:ext cx="2286000" cy="256032"/>
          </a:xfrm>
          <a:prstGeom prst="rect">
            <a:avLst/>
          </a:prstGeom>
          <a:noFill/>
          <a:ln/>
        </p:spPr>
        <p:txBody>
          <a:bodyPr wrap="square" lIns="0" tIns="0" rIns="0" bIns="0" rtlCol="0" anchor="ctr"/>
          <a:lstStyle/>
          <a:p>
            <a:pPr marL="0" indent="0">
              <a:buNone/>
            </a:pPr>
            <a:r>
              <a:rPr lang="en-US" sz="1150" b="1" dirty="0">
                <a:solidFill>
                  <a:srgbClr val="2563EB"/>
                </a:solidFill>
                <a:latin typeface="Calibri" pitchFamily="34" charset="0"/>
                <a:ea typeface="Calibri" pitchFamily="34" charset="-122"/>
                <a:cs typeface="Calibri" pitchFamily="34" charset="-120"/>
              </a:rPr>
              <a:t>Context input</a:t>
            </a:r>
            <a:endParaRPr lang="en-US" sz="1150" dirty="0"/>
          </a:p>
        </p:txBody>
      </p:sp>
      <p:sp>
        <p:nvSpPr>
          <p:cNvPr id="35" name="Text 33"/>
          <p:cNvSpPr/>
          <p:nvPr/>
        </p:nvSpPr>
        <p:spPr>
          <a:xfrm>
            <a:off x="667512" y="3968496"/>
            <a:ext cx="2286000" cy="548640"/>
          </a:xfrm>
          <a:prstGeom prst="rect">
            <a:avLst/>
          </a:prstGeom>
          <a:noFill/>
          <a:ln/>
        </p:spPr>
        <p:txBody>
          <a:bodyPr wrap="square" lIns="0" tIns="0" rIns="0" bIns="0" rtlCol="0" anchor="ctr"/>
          <a:lstStyle/>
          <a:p>
            <a:pPr marL="0" indent="0">
              <a:buNone/>
            </a:pPr>
            <a:r>
              <a:rPr lang="en-US" sz="900" dirty="0">
                <a:solidFill>
                  <a:srgbClr val="1B2A4A"/>
                </a:solidFill>
                <a:latin typeface="Calibri" pitchFamily="34" charset="0"/>
                <a:ea typeface="Calibri" pitchFamily="34" charset="-122"/>
                <a:cs typeface="Calibri" pitchFamily="34" charset="-120"/>
              </a:rPr>
              <a:t>Question + top 5 reranked chunks + source metadata</a:t>
            </a:r>
            <a:endParaRPr lang="en-US" sz="900" dirty="0"/>
          </a:p>
        </p:txBody>
      </p:sp>
      <p:sp>
        <p:nvSpPr>
          <p:cNvPr id="36" name="Shape 34"/>
          <p:cNvSpPr/>
          <p:nvPr/>
        </p:nvSpPr>
        <p:spPr>
          <a:xfrm>
            <a:off x="3273552" y="3639312"/>
            <a:ext cx="2596896" cy="914400"/>
          </a:xfrm>
          <a:prstGeom prst="roundRect">
            <a:avLst>
              <a:gd name="adj" fmla="val 8000"/>
            </a:avLst>
          </a:prstGeom>
          <a:solidFill>
            <a:srgbClr val="D7E3F6"/>
          </a:solidFill>
          <a:ln/>
        </p:spPr>
        <p:txBody>
          <a:bodyPr/>
          <a:lstStyle/>
          <a:p>
            <a:endParaRPr lang="en-US"/>
          </a:p>
        </p:txBody>
      </p:sp>
      <p:sp>
        <p:nvSpPr>
          <p:cNvPr id="37" name="Text 35"/>
          <p:cNvSpPr/>
          <p:nvPr/>
        </p:nvSpPr>
        <p:spPr>
          <a:xfrm>
            <a:off x="3438144" y="3730752"/>
            <a:ext cx="2286000" cy="256032"/>
          </a:xfrm>
          <a:prstGeom prst="rect">
            <a:avLst/>
          </a:prstGeom>
          <a:noFill/>
          <a:ln/>
        </p:spPr>
        <p:txBody>
          <a:bodyPr wrap="square" lIns="0" tIns="0" rIns="0" bIns="0" rtlCol="0" anchor="ctr"/>
          <a:lstStyle/>
          <a:p>
            <a:pPr marL="0" indent="0">
              <a:buNone/>
            </a:pPr>
            <a:r>
              <a:rPr lang="en-US" sz="1150" b="1" dirty="0">
                <a:solidFill>
                  <a:srgbClr val="2563EB"/>
                </a:solidFill>
                <a:latin typeface="Calibri" pitchFamily="34" charset="0"/>
                <a:ea typeface="Calibri" pitchFamily="34" charset="-122"/>
                <a:cs typeface="Calibri" pitchFamily="34" charset="-120"/>
              </a:rPr>
              <a:t>Generation rules</a:t>
            </a:r>
            <a:endParaRPr lang="en-US" sz="1150" dirty="0"/>
          </a:p>
        </p:txBody>
      </p:sp>
      <p:sp>
        <p:nvSpPr>
          <p:cNvPr id="38" name="Text 36"/>
          <p:cNvSpPr/>
          <p:nvPr/>
        </p:nvSpPr>
        <p:spPr>
          <a:xfrm>
            <a:off x="3438144" y="3968496"/>
            <a:ext cx="2286000" cy="548640"/>
          </a:xfrm>
          <a:prstGeom prst="rect">
            <a:avLst/>
          </a:prstGeom>
          <a:noFill/>
          <a:ln/>
        </p:spPr>
        <p:txBody>
          <a:bodyPr wrap="square" lIns="0" tIns="0" rIns="0" bIns="0" rtlCol="0" anchor="ctr"/>
          <a:lstStyle/>
          <a:p>
            <a:pPr marL="0" indent="0">
              <a:buNone/>
            </a:pPr>
            <a:r>
              <a:rPr lang="en-US" sz="900" dirty="0">
                <a:solidFill>
                  <a:srgbClr val="1B2A4A"/>
                </a:solidFill>
                <a:latin typeface="Calibri" pitchFamily="34" charset="0"/>
                <a:ea typeface="Calibri" pitchFamily="34" charset="-122"/>
                <a:cs typeface="Calibri" pitchFamily="34" charset="-120"/>
              </a:rPr>
              <a:t>Use retrieved evidence only, do not guess, cite the supporting source, and refer high-risk repairs to a qualified technician.</a:t>
            </a:r>
            <a:endParaRPr lang="en-US" sz="900" dirty="0"/>
          </a:p>
        </p:txBody>
      </p:sp>
      <p:sp>
        <p:nvSpPr>
          <p:cNvPr id="39" name="Shape 37"/>
          <p:cNvSpPr/>
          <p:nvPr/>
        </p:nvSpPr>
        <p:spPr>
          <a:xfrm>
            <a:off x="6044184" y="3639312"/>
            <a:ext cx="2596896" cy="914400"/>
          </a:xfrm>
          <a:prstGeom prst="roundRect">
            <a:avLst>
              <a:gd name="adj" fmla="val 8000"/>
            </a:avLst>
          </a:prstGeom>
          <a:solidFill>
            <a:srgbClr val="D7E3F6"/>
          </a:solidFill>
          <a:ln/>
        </p:spPr>
        <p:txBody>
          <a:bodyPr/>
          <a:lstStyle/>
          <a:p>
            <a:endParaRPr lang="en-US"/>
          </a:p>
        </p:txBody>
      </p:sp>
      <p:sp>
        <p:nvSpPr>
          <p:cNvPr id="40" name="Text 38"/>
          <p:cNvSpPr/>
          <p:nvPr/>
        </p:nvSpPr>
        <p:spPr>
          <a:xfrm>
            <a:off x="6208776" y="3730752"/>
            <a:ext cx="2286000" cy="256032"/>
          </a:xfrm>
          <a:prstGeom prst="rect">
            <a:avLst/>
          </a:prstGeom>
          <a:noFill/>
          <a:ln/>
        </p:spPr>
        <p:txBody>
          <a:bodyPr wrap="square" lIns="0" tIns="0" rIns="0" bIns="0" rtlCol="0" anchor="ctr"/>
          <a:lstStyle/>
          <a:p>
            <a:pPr marL="0" indent="0">
              <a:buNone/>
            </a:pPr>
            <a:r>
              <a:rPr lang="en-US" sz="1150" b="1" dirty="0">
                <a:solidFill>
                  <a:srgbClr val="2563EB"/>
                </a:solidFill>
                <a:latin typeface="Calibri" pitchFamily="34" charset="0"/>
                <a:ea typeface="Calibri" pitchFamily="34" charset="-122"/>
                <a:cs typeface="Calibri" pitchFamily="34" charset="-120"/>
              </a:rPr>
              <a:t>Final response</a:t>
            </a:r>
            <a:endParaRPr lang="en-US" sz="1150" dirty="0"/>
          </a:p>
        </p:txBody>
      </p:sp>
      <p:sp>
        <p:nvSpPr>
          <p:cNvPr id="41" name="Text 39"/>
          <p:cNvSpPr/>
          <p:nvPr/>
        </p:nvSpPr>
        <p:spPr>
          <a:xfrm>
            <a:off x="6208776" y="3968496"/>
            <a:ext cx="2286000" cy="548640"/>
          </a:xfrm>
          <a:prstGeom prst="rect">
            <a:avLst/>
          </a:prstGeom>
          <a:noFill/>
          <a:ln/>
        </p:spPr>
        <p:txBody>
          <a:bodyPr wrap="square" lIns="0" tIns="0" rIns="0" bIns="0" rtlCol="0" anchor="ctr"/>
          <a:lstStyle/>
          <a:p>
            <a:pPr marL="0" indent="0">
              <a:buNone/>
            </a:pPr>
            <a:r>
              <a:rPr lang="en-US" sz="900" dirty="0">
                <a:solidFill>
                  <a:srgbClr val="1B2A4A"/>
                </a:solidFill>
                <a:latin typeface="Calibri" pitchFamily="34" charset="0"/>
                <a:ea typeface="Calibri" pitchFamily="34" charset="-122"/>
                <a:cs typeface="Calibri" pitchFamily="34" charset="-120"/>
              </a:rPr>
              <a:t>Intended output: clear troubleshooting steps with a supporting source citation, or a refusal when evidence is insufficient.</a:t>
            </a:r>
            <a:endParaRPr lang="en-US" sz="900" dirty="0"/>
          </a:p>
        </p:txBody>
      </p:sp>
      <p:sp>
        <p:nvSpPr>
          <p:cNvPr id="42" name="Shape 40"/>
          <p:cNvSpPr/>
          <p:nvPr/>
        </p:nvSpPr>
        <p:spPr>
          <a:xfrm>
            <a:off x="502920" y="4645152"/>
            <a:ext cx="8138160" cy="411480"/>
          </a:xfrm>
          <a:prstGeom prst="roundRect">
            <a:avLst>
              <a:gd name="adj" fmla="val 17778"/>
            </a:avLst>
          </a:prstGeom>
          <a:solidFill>
            <a:srgbClr val="2E9E5B"/>
          </a:solidFill>
          <a:ln/>
        </p:spPr>
        <p:txBody>
          <a:bodyPr/>
          <a:lstStyle/>
          <a:p>
            <a:endParaRPr lang="en-US"/>
          </a:p>
        </p:txBody>
      </p:sp>
      <p:sp>
        <p:nvSpPr>
          <p:cNvPr id="43" name="Text 41"/>
          <p:cNvSpPr/>
          <p:nvPr/>
        </p:nvSpPr>
        <p:spPr>
          <a:xfrm>
            <a:off x="502920" y="4645152"/>
            <a:ext cx="81381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Retrieval supplies the evidence. The LLM converts it into a grounded answer or refusal.</a:t>
            </a:r>
            <a:endParaRPr lang="en-US" sz="1100" dirty="0"/>
          </a:p>
        </p:txBody>
      </p:sp>
      <p:sp>
        <p:nvSpPr>
          <p:cNvPr id="44" name="Text 42"/>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B7EBB4A0-775F-56C3-93DC-40A9E50B6630}"/>
              </a:ext>
            </a:extLst>
          </p:cNvPr>
          <p:cNvPicPr>
            <a:picLocks noChangeAspect="1"/>
          </p:cNvPicPr>
          <p:nvPr/>
        </p:nvPicPr>
        <p:blipFill>
          <a:blip r:embed="rId2"/>
          <a:srcRect t="18"/>
          <a:stretch>
            <a:fillRect/>
          </a:stretch>
        </p:blipFill>
        <p:spPr>
          <a:xfrm>
            <a:off x="20" y="961"/>
            <a:ext cx="9143980" cy="5142539"/>
          </a:xfrm>
          <a:prstGeom prst="rect">
            <a:avLst/>
          </a:prstGeom>
        </p:spPr>
      </p:pic>
    </p:spTree>
    <p:extLst>
      <p:ext uri="{BB962C8B-B14F-4D97-AF65-F5344CB8AC3E}">
        <p14:creationId xmlns:p14="http://schemas.microsoft.com/office/powerpoint/2010/main" val="3745672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LOOKING AHEAD</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1B2A4A"/>
                </a:solidFill>
                <a:latin typeface="Cambria" pitchFamily="34" charset="0"/>
                <a:ea typeface="Cambria" pitchFamily="34" charset="-122"/>
                <a:cs typeface="Cambria" pitchFamily="34" charset="-120"/>
              </a:rPr>
              <a:t>Where this goes next</a:t>
            </a:r>
            <a:endParaRPr lang="en-US" sz="2700" dirty="0"/>
          </a:p>
        </p:txBody>
      </p:sp>
      <p:sp>
        <p:nvSpPr>
          <p:cNvPr id="4" name="Shape 2"/>
          <p:cNvSpPr/>
          <p:nvPr/>
        </p:nvSpPr>
        <p:spPr>
          <a:xfrm>
            <a:off x="502920" y="1463040"/>
            <a:ext cx="1920240" cy="2377440"/>
          </a:xfrm>
          <a:prstGeom prst="roundRect">
            <a:avLst>
              <a:gd name="adj" fmla="val 4286"/>
            </a:avLst>
          </a:prstGeom>
          <a:solidFill>
            <a:srgbClr val="1B2A4A"/>
          </a:solidFill>
          <a:ln/>
        </p:spPr>
        <p:txBody>
          <a:bodyPr/>
          <a:lstStyle/>
          <a:p>
            <a:endParaRPr lang="en-US"/>
          </a:p>
        </p:txBody>
      </p:sp>
      <p:sp>
        <p:nvSpPr>
          <p:cNvPr id="5" name="Shape 3"/>
          <p:cNvSpPr/>
          <p:nvPr/>
        </p:nvSpPr>
        <p:spPr>
          <a:xfrm>
            <a:off x="704088" y="1691640"/>
            <a:ext cx="512064" cy="512064"/>
          </a:xfrm>
          <a:prstGeom prst="ellipse">
            <a:avLst/>
          </a:prstGeom>
          <a:solidFill>
            <a:srgbClr val="F59E0B"/>
          </a:solidFill>
          <a:ln/>
        </p:spPr>
        <p:txBody>
          <a:bodyPr/>
          <a:lstStyle/>
          <a:p>
            <a:endParaRPr lang="en-US"/>
          </a:p>
        </p:txBody>
      </p:sp>
      <p:pic>
        <p:nvPicPr>
          <p:cNvPr id="6" name="Image 0" descr="assets/icons/tag_w.png"/>
          <p:cNvPicPr>
            <a:picLocks noChangeAspect="1"/>
          </p:cNvPicPr>
          <p:nvPr/>
        </p:nvPicPr>
        <p:blipFill>
          <a:blip r:embed="rId3"/>
          <a:stretch>
            <a:fillRect/>
          </a:stretch>
        </p:blipFill>
        <p:spPr>
          <a:xfrm>
            <a:off x="842345" y="1829897"/>
            <a:ext cx="235549" cy="235549"/>
          </a:xfrm>
          <a:prstGeom prst="rect">
            <a:avLst/>
          </a:prstGeom>
        </p:spPr>
      </p:pic>
      <p:sp>
        <p:nvSpPr>
          <p:cNvPr id="7" name="Text 4"/>
          <p:cNvSpPr/>
          <p:nvPr/>
        </p:nvSpPr>
        <p:spPr>
          <a:xfrm>
            <a:off x="704088" y="2331720"/>
            <a:ext cx="15544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More brands</a:t>
            </a:r>
            <a:endParaRPr lang="en-US" sz="1400" dirty="0"/>
          </a:p>
        </p:txBody>
      </p:sp>
      <p:sp>
        <p:nvSpPr>
          <p:cNvPr id="8" name="Text 5"/>
          <p:cNvSpPr/>
          <p:nvPr/>
        </p:nvSpPr>
        <p:spPr>
          <a:xfrm>
            <a:off x="704088" y="2633472"/>
            <a:ext cx="1554480" cy="1005840"/>
          </a:xfrm>
          <a:prstGeom prst="rect">
            <a:avLst/>
          </a:prstGeom>
          <a:noFill/>
          <a:ln/>
        </p:spPr>
        <p:txBody>
          <a:bodyPr wrap="square" lIns="0" tIns="0" rIns="0" bIns="0" rtlCol="0" anchor="ctr"/>
          <a:lstStyle/>
          <a:p>
            <a:pPr marL="0" indent="0">
              <a:buNone/>
            </a:pPr>
            <a:r>
              <a:rPr lang="en-US" sz="1100" dirty="0">
                <a:solidFill>
                  <a:srgbClr val="D7E3F6"/>
                </a:solidFill>
                <a:latin typeface="Calibri" pitchFamily="34" charset="0"/>
                <a:ea typeface="Calibri" pitchFamily="34" charset="-122"/>
                <a:cs typeface="Calibri" pitchFamily="34" charset="-120"/>
              </a:rPr>
              <a:t>Add Maytag, Amana and LG using the same pipeline and the same tests.</a:t>
            </a:r>
            <a:endParaRPr lang="en-US" sz="1100" dirty="0"/>
          </a:p>
        </p:txBody>
      </p:sp>
      <p:sp>
        <p:nvSpPr>
          <p:cNvPr id="9" name="Shape 6"/>
          <p:cNvSpPr/>
          <p:nvPr/>
        </p:nvSpPr>
        <p:spPr>
          <a:xfrm>
            <a:off x="2587752" y="1463040"/>
            <a:ext cx="1920240" cy="2377440"/>
          </a:xfrm>
          <a:prstGeom prst="roundRect">
            <a:avLst>
              <a:gd name="adj" fmla="val 4286"/>
            </a:avLst>
          </a:prstGeom>
          <a:solidFill>
            <a:srgbClr val="E9F0FB"/>
          </a:solidFill>
          <a:ln/>
        </p:spPr>
        <p:txBody>
          <a:bodyPr/>
          <a:lstStyle/>
          <a:p>
            <a:endParaRPr lang="en-US"/>
          </a:p>
        </p:txBody>
      </p:sp>
      <p:sp>
        <p:nvSpPr>
          <p:cNvPr id="10" name="Shape 7"/>
          <p:cNvSpPr/>
          <p:nvPr/>
        </p:nvSpPr>
        <p:spPr>
          <a:xfrm>
            <a:off x="2788920" y="1691640"/>
            <a:ext cx="512064" cy="512064"/>
          </a:xfrm>
          <a:prstGeom prst="ellipse">
            <a:avLst/>
          </a:prstGeom>
          <a:solidFill>
            <a:srgbClr val="2563EB"/>
          </a:solidFill>
          <a:ln/>
        </p:spPr>
        <p:txBody>
          <a:bodyPr/>
          <a:lstStyle/>
          <a:p>
            <a:endParaRPr lang="en-US"/>
          </a:p>
        </p:txBody>
      </p:sp>
      <p:pic>
        <p:nvPicPr>
          <p:cNvPr id="11" name="Image 1" descr="assets/icons/mic_w.png"/>
          <p:cNvPicPr>
            <a:picLocks noChangeAspect="1"/>
          </p:cNvPicPr>
          <p:nvPr/>
        </p:nvPicPr>
        <p:blipFill>
          <a:blip r:embed="rId4"/>
          <a:stretch>
            <a:fillRect/>
          </a:stretch>
        </p:blipFill>
        <p:spPr>
          <a:xfrm>
            <a:off x="2927177" y="1829897"/>
            <a:ext cx="235549" cy="235549"/>
          </a:xfrm>
          <a:prstGeom prst="rect">
            <a:avLst/>
          </a:prstGeom>
        </p:spPr>
      </p:pic>
      <p:sp>
        <p:nvSpPr>
          <p:cNvPr id="12" name="Text 8"/>
          <p:cNvSpPr/>
          <p:nvPr/>
        </p:nvSpPr>
        <p:spPr>
          <a:xfrm>
            <a:off x="2788920" y="2331720"/>
            <a:ext cx="155448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Voice support</a:t>
            </a:r>
            <a:endParaRPr lang="en-US" sz="1400" dirty="0"/>
          </a:p>
        </p:txBody>
      </p:sp>
      <p:sp>
        <p:nvSpPr>
          <p:cNvPr id="13" name="Text 9"/>
          <p:cNvSpPr/>
          <p:nvPr/>
        </p:nvSpPr>
        <p:spPr>
          <a:xfrm>
            <a:off x="2788920" y="2633472"/>
            <a:ext cx="1554480" cy="1005840"/>
          </a:xfrm>
          <a:prstGeom prst="rect">
            <a:avLst/>
          </a:prstGeom>
          <a:noFill/>
          <a:ln/>
        </p:spPr>
        <p:txBody>
          <a:bodyPr wrap="square" lIns="0" tIns="0" rIns="0" bIns="0" rtlCol="0" anchor="ctr"/>
          <a:lstStyle/>
          <a:p>
            <a:pPr marL="0" indent="0">
              <a:buNone/>
            </a:pPr>
            <a:r>
              <a:rPr lang="en-US" sz="1100" dirty="0">
                <a:solidFill>
                  <a:srgbClr val="33415C"/>
                </a:solidFill>
                <a:latin typeface="Calibri" pitchFamily="34" charset="0"/>
                <a:ea typeface="Calibri" pitchFamily="34" charset="-122"/>
                <a:cs typeface="Calibri" pitchFamily="34" charset="-120"/>
              </a:rPr>
              <a:t>Hands are busy during a repair. Let people ask out loud.</a:t>
            </a:r>
            <a:endParaRPr lang="en-US" sz="1100" dirty="0"/>
          </a:p>
        </p:txBody>
      </p:sp>
      <p:sp>
        <p:nvSpPr>
          <p:cNvPr id="14" name="Shape 10"/>
          <p:cNvSpPr/>
          <p:nvPr/>
        </p:nvSpPr>
        <p:spPr>
          <a:xfrm>
            <a:off x="4672584" y="1463040"/>
            <a:ext cx="1920240" cy="2377440"/>
          </a:xfrm>
          <a:prstGeom prst="roundRect">
            <a:avLst>
              <a:gd name="adj" fmla="val 4286"/>
            </a:avLst>
          </a:prstGeom>
          <a:solidFill>
            <a:srgbClr val="E9F0FB"/>
          </a:solidFill>
          <a:ln/>
        </p:spPr>
        <p:txBody>
          <a:bodyPr/>
          <a:lstStyle/>
          <a:p>
            <a:endParaRPr lang="en-US"/>
          </a:p>
        </p:txBody>
      </p:sp>
      <p:sp>
        <p:nvSpPr>
          <p:cNvPr id="15" name="Shape 11"/>
          <p:cNvSpPr/>
          <p:nvPr/>
        </p:nvSpPr>
        <p:spPr>
          <a:xfrm>
            <a:off x="4873752" y="1691640"/>
            <a:ext cx="512064" cy="512064"/>
          </a:xfrm>
          <a:prstGeom prst="ellipse">
            <a:avLst/>
          </a:prstGeom>
          <a:solidFill>
            <a:srgbClr val="2563EB"/>
          </a:solidFill>
          <a:ln/>
        </p:spPr>
        <p:txBody>
          <a:bodyPr/>
          <a:lstStyle/>
          <a:p>
            <a:endParaRPr lang="en-US"/>
          </a:p>
        </p:txBody>
      </p:sp>
      <p:pic>
        <p:nvPicPr>
          <p:cNvPr id="16" name="Image 2" descr="assets/icons/mobile_w.png"/>
          <p:cNvPicPr>
            <a:picLocks noChangeAspect="1"/>
          </p:cNvPicPr>
          <p:nvPr/>
        </p:nvPicPr>
        <p:blipFill>
          <a:blip r:embed="rId5"/>
          <a:stretch>
            <a:fillRect/>
          </a:stretch>
        </p:blipFill>
        <p:spPr>
          <a:xfrm>
            <a:off x="5012009" y="1829897"/>
            <a:ext cx="235549" cy="235549"/>
          </a:xfrm>
          <a:prstGeom prst="rect">
            <a:avLst/>
          </a:prstGeom>
        </p:spPr>
      </p:pic>
      <p:sp>
        <p:nvSpPr>
          <p:cNvPr id="17" name="Text 12"/>
          <p:cNvSpPr/>
          <p:nvPr/>
        </p:nvSpPr>
        <p:spPr>
          <a:xfrm>
            <a:off x="4873752" y="2331720"/>
            <a:ext cx="155448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Mobile apps</a:t>
            </a:r>
            <a:endParaRPr lang="en-US" sz="1400" dirty="0"/>
          </a:p>
        </p:txBody>
      </p:sp>
      <p:sp>
        <p:nvSpPr>
          <p:cNvPr id="18" name="Text 13"/>
          <p:cNvSpPr/>
          <p:nvPr/>
        </p:nvSpPr>
        <p:spPr>
          <a:xfrm>
            <a:off x="4873752" y="2633472"/>
            <a:ext cx="1554480" cy="1005840"/>
          </a:xfrm>
          <a:prstGeom prst="rect">
            <a:avLst/>
          </a:prstGeom>
          <a:noFill/>
          <a:ln/>
        </p:spPr>
        <p:txBody>
          <a:bodyPr wrap="square" lIns="0" tIns="0" rIns="0" bIns="0" rtlCol="0" anchor="ctr"/>
          <a:lstStyle/>
          <a:p>
            <a:pPr marL="0" indent="0">
              <a:buNone/>
            </a:pPr>
            <a:r>
              <a:rPr lang="en-US" sz="1100" dirty="0">
                <a:solidFill>
                  <a:srgbClr val="33415C"/>
                </a:solidFill>
                <a:latin typeface="Calibri" pitchFamily="34" charset="0"/>
                <a:ea typeface="Calibri" pitchFamily="34" charset="-122"/>
                <a:cs typeface="Calibri" pitchFamily="34" charset="-120"/>
              </a:rPr>
              <a:t>The kitchen is where the questions happen, not the desk.</a:t>
            </a:r>
            <a:endParaRPr lang="en-US" sz="1100" dirty="0"/>
          </a:p>
        </p:txBody>
      </p:sp>
      <p:sp>
        <p:nvSpPr>
          <p:cNvPr id="19" name="Shape 14"/>
          <p:cNvSpPr/>
          <p:nvPr/>
        </p:nvSpPr>
        <p:spPr>
          <a:xfrm>
            <a:off x="6757416" y="1463040"/>
            <a:ext cx="1920240" cy="2377440"/>
          </a:xfrm>
          <a:prstGeom prst="roundRect">
            <a:avLst>
              <a:gd name="adj" fmla="val 4286"/>
            </a:avLst>
          </a:prstGeom>
          <a:solidFill>
            <a:srgbClr val="E9F0FB"/>
          </a:solidFill>
          <a:ln/>
        </p:spPr>
        <p:txBody>
          <a:bodyPr/>
          <a:lstStyle/>
          <a:p>
            <a:endParaRPr lang="en-US"/>
          </a:p>
        </p:txBody>
      </p:sp>
      <p:sp>
        <p:nvSpPr>
          <p:cNvPr id="20" name="Shape 15"/>
          <p:cNvSpPr/>
          <p:nvPr/>
        </p:nvSpPr>
        <p:spPr>
          <a:xfrm>
            <a:off x="6958584" y="1691640"/>
            <a:ext cx="512064" cy="512064"/>
          </a:xfrm>
          <a:prstGeom prst="ellipse">
            <a:avLst/>
          </a:prstGeom>
          <a:solidFill>
            <a:srgbClr val="2563EB"/>
          </a:solidFill>
          <a:ln/>
        </p:spPr>
        <p:txBody>
          <a:bodyPr/>
          <a:lstStyle/>
          <a:p>
            <a:endParaRPr lang="en-US"/>
          </a:p>
        </p:txBody>
      </p:sp>
      <p:pic>
        <p:nvPicPr>
          <p:cNvPr id="21" name="Image 3" descr="assets/icons/chart_w.png"/>
          <p:cNvPicPr>
            <a:picLocks noChangeAspect="1"/>
          </p:cNvPicPr>
          <p:nvPr/>
        </p:nvPicPr>
        <p:blipFill>
          <a:blip r:embed="rId6"/>
          <a:stretch>
            <a:fillRect/>
          </a:stretch>
        </p:blipFill>
        <p:spPr>
          <a:xfrm>
            <a:off x="7096841" y="1829897"/>
            <a:ext cx="235549" cy="235549"/>
          </a:xfrm>
          <a:prstGeom prst="rect">
            <a:avLst/>
          </a:prstGeom>
        </p:spPr>
      </p:pic>
      <p:sp>
        <p:nvSpPr>
          <p:cNvPr id="22" name="Text 16"/>
          <p:cNvSpPr/>
          <p:nvPr/>
        </p:nvSpPr>
        <p:spPr>
          <a:xfrm>
            <a:off x="6958584" y="2331720"/>
            <a:ext cx="155448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Smarter ranking</a:t>
            </a:r>
            <a:endParaRPr lang="en-US" sz="1400" dirty="0"/>
          </a:p>
        </p:txBody>
      </p:sp>
      <p:sp>
        <p:nvSpPr>
          <p:cNvPr id="23" name="Text 17"/>
          <p:cNvSpPr/>
          <p:nvPr/>
        </p:nvSpPr>
        <p:spPr>
          <a:xfrm>
            <a:off x="6958584" y="2633472"/>
            <a:ext cx="1554480" cy="1005840"/>
          </a:xfrm>
          <a:prstGeom prst="rect">
            <a:avLst/>
          </a:prstGeom>
          <a:noFill/>
          <a:ln/>
        </p:spPr>
        <p:txBody>
          <a:bodyPr wrap="square" lIns="0" tIns="0" rIns="0" bIns="0" rtlCol="0" anchor="ctr"/>
          <a:lstStyle/>
          <a:p>
            <a:pPr marL="0" indent="0">
              <a:buNone/>
            </a:pPr>
            <a:r>
              <a:rPr lang="en-US" sz="1100" dirty="0">
                <a:solidFill>
                  <a:srgbClr val="33415C"/>
                </a:solidFill>
                <a:latin typeface="Calibri" pitchFamily="34" charset="0"/>
                <a:ea typeface="Calibri" pitchFamily="34" charset="-122"/>
                <a:cs typeface="Calibri" pitchFamily="34" charset="-120"/>
              </a:rPr>
              <a:t>A stronger reranker and support for more languages.</a:t>
            </a:r>
            <a:endParaRPr lang="en-US" sz="1100" dirty="0"/>
          </a:p>
        </p:txBody>
      </p:sp>
      <p:sp>
        <p:nvSpPr>
          <p:cNvPr id="24" name="Text 18"/>
          <p:cNvSpPr/>
          <p:nvPr/>
        </p:nvSpPr>
        <p:spPr>
          <a:xfrm>
            <a:off x="502920" y="4160520"/>
            <a:ext cx="8138160" cy="457200"/>
          </a:xfrm>
          <a:prstGeom prst="rect">
            <a:avLst/>
          </a:prstGeom>
          <a:noFill/>
          <a:ln/>
        </p:spPr>
        <p:txBody>
          <a:bodyPr wrap="square" lIns="0" tIns="0" rIns="0" bIns="0" rtlCol="0" anchor="ctr"/>
          <a:lstStyle/>
          <a:p>
            <a:pPr marL="0" indent="0" algn="ctr">
              <a:buNone/>
            </a:pPr>
            <a:r>
              <a:rPr lang="en-US" sz="1350" i="1" dirty="0">
                <a:solidFill>
                  <a:srgbClr val="2563EB"/>
                </a:solidFill>
                <a:latin typeface="Calibri" pitchFamily="34" charset="0"/>
                <a:ea typeface="Calibri" pitchFamily="34" charset="-122"/>
                <a:cs typeface="Calibri" pitchFamily="34" charset="-120"/>
              </a:rPr>
              <a:t>The evaluation set is the real asset. Any new brand, model or feature has to beat the same 40 questions before it ships.</a:t>
            </a:r>
            <a:endParaRPr lang="en-US" sz="1350" dirty="0"/>
          </a:p>
        </p:txBody>
      </p:sp>
      <p:sp>
        <p:nvSpPr>
          <p:cNvPr id="25" name="Text 19"/>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645920" y="3108960"/>
            <a:ext cx="4572000" cy="4572000"/>
          </a:xfrm>
          <a:prstGeom prst="ellipse">
            <a:avLst/>
          </a:prstGeom>
          <a:solidFill>
            <a:srgbClr val="24365E"/>
          </a:solidFill>
          <a:ln/>
        </p:spPr>
        <p:txBody>
          <a:bodyPr/>
          <a:lstStyle/>
          <a:p>
            <a:endParaRPr lang="en-US"/>
          </a:p>
        </p:txBody>
      </p:sp>
      <p:sp>
        <p:nvSpPr>
          <p:cNvPr id="3" name="Text 1"/>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200" dirty="0">
                <a:solidFill>
                  <a:srgbClr val="A9C3EE"/>
                </a:solidFill>
                <a:latin typeface="Calibri" pitchFamily="34" charset="0"/>
                <a:ea typeface="Calibri" pitchFamily="34" charset="-122"/>
                <a:cs typeface="Calibri" pitchFamily="34" charset="-120"/>
              </a:rPr>
              <a:t>THE TEAM</a:t>
            </a:r>
            <a:endParaRPr lang="en-US" sz="1100" dirty="0"/>
          </a:p>
        </p:txBody>
      </p:sp>
      <p:sp>
        <p:nvSpPr>
          <p:cNvPr id="4" name="Text 2"/>
          <p:cNvSpPr/>
          <p:nvPr/>
        </p:nvSpPr>
        <p:spPr>
          <a:xfrm>
            <a:off x="502920" y="530352"/>
            <a:ext cx="8138160" cy="566928"/>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Built by four people, reviewed by all of them</a:t>
            </a:r>
            <a:endParaRPr lang="en-US" sz="2700" dirty="0"/>
          </a:p>
        </p:txBody>
      </p:sp>
      <p:sp>
        <p:nvSpPr>
          <p:cNvPr id="5" name="Shape 3"/>
          <p:cNvSpPr/>
          <p:nvPr/>
        </p:nvSpPr>
        <p:spPr>
          <a:xfrm>
            <a:off x="548640" y="1417320"/>
            <a:ext cx="457200" cy="457200"/>
          </a:xfrm>
          <a:prstGeom prst="ellipse">
            <a:avLst/>
          </a:prstGeom>
          <a:solidFill>
            <a:srgbClr val="2563EB"/>
          </a:solidFill>
          <a:ln/>
        </p:spPr>
        <p:txBody>
          <a:bodyPr/>
          <a:lstStyle/>
          <a:p>
            <a:endParaRPr lang="en-US"/>
          </a:p>
        </p:txBody>
      </p:sp>
      <p:sp>
        <p:nvSpPr>
          <p:cNvPr id="6" name="Text 4"/>
          <p:cNvSpPr/>
          <p:nvPr/>
        </p:nvSpPr>
        <p:spPr>
          <a:xfrm>
            <a:off x="548640" y="14173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DK</a:t>
            </a:r>
            <a:endParaRPr lang="en-US" sz="1300" dirty="0"/>
          </a:p>
        </p:txBody>
      </p:sp>
      <p:sp>
        <p:nvSpPr>
          <p:cNvPr id="7" name="Text 5"/>
          <p:cNvSpPr/>
          <p:nvPr/>
        </p:nvSpPr>
        <p:spPr>
          <a:xfrm>
            <a:off x="1188720" y="1399032"/>
            <a:ext cx="40233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Divya Kotha   </a:t>
            </a:r>
            <a:r>
              <a:rPr lang="en-US" sz="1200" dirty="0">
                <a:solidFill>
                  <a:srgbClr val="FFD68A"/>
                </a:solidFill>
                <a:latin typeface="Calibri" pitchFamily="34" charset="0"/>
                <a:ea typeface="Calibri" pitchFamily="34" charset="-122"/>
                <a:cs typeface="Calibri" pitchFamily="34" charset="-120"/>
              </a:rPr>
              <a:t>Project manager</a:t>
            </a:r>
            <a:endParaRPr lang="en-US" sz="1400" dirty="0"/>
          </a:p>
        </p:txBody>
      </p:sp>
      <p:sp>
        <p:nvSpPr>
          <p:cNvPr id="8" name="Text 6"/>
          <p:cNvSpPr/>
          <p:nvPr/>
        </p:nvSpPr>
        <p:spPr>
          <a:xfrm>
            <a:off x="1188720" y="1645920"/>
            <a:ext cx="4023360" cy="256032"/>
          </a:xfrm>
          <a:prstGeom prst="rect">
            <a:avLst/>
          </a:prstGeom>
          <a:noFill/>
          <a:ln/>
        </p:spPr>
        <p:txBody>
          <a:bodyPr wrap="square" lIns="0" tIns="0" rIns="0" bIns="0" rtlCol="0" anchor="ctr"/>
          <a:lstStyle/>
          <a:p>
            <a:pPr marL="0" indent="0">
              <a:buNone/>
            </a:pPr>
            <a:r>
              <a:rPr lang="en-US" sz="1100" dirty="0">
                <a:solidFill>
                  <a:srgbClr val="9FB4DA"/>
                </a:solidFill>
                <a:latin typeface="Calibri" pitchFamily="34" charset="0"/>
                <a:ea typeface="Calibri" pitchFamily="34" charset="-122"/>
                <a:cs typeface="Calibri" pitchFamily="34" charset="-120"/>
              </a:rPr>
              <a:t>planning, docs, GitHub board, presentation</a:t>
            </a:r>
            <a:endParaRPr lang="en-US" sz="1100" dirty="0"/>
          </a:p>
        </p:txBody>
      </p:sp>
      <p:sp>
        <p:nvSpPr>
          <p:cNvPr id="9" name="Shape 7"/>
          <p:cNvSpPr/>
          <p:nvPr/>
        </p:nvSpPr>
        <p:spPr>
          <a:xfrm>
            <a:off x="548640" y="2130552"/>
            <a:ext cx="457200" cy="457200"/>
          </a:xfrm>
          <a:prstGeom prst="ellipse">
            <a:avLst/>
          </a:prstGeom>
          <a:solidFill>
            <a:srgbClr val="2563EB"/>
          </a:solidFill>
          <a:ln/>
        </p:spPr>
        <p:txBody>
          <a:bodyPr/>
          <a:lstStyle/>
          <a:p>
            <a:endParaRPr lang="en-US"/>
          </a:p>
        </p:txBody>
      </p:sp>
      <p:sp>
        <p:nvSpPr>
          <p:cNvPr id="10" name="Text 8"/>
          <p:cNvSpPr/>
          <p:nvPr/>
        </p:nvSpPr>
        <p:spPr>
          <a:xfrm>
            <a:off x="548640" y="21305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MS</a:t>
            </a:r>
            <a:endParaRPr lang="en-US" sz="1300" dirty="0"/>
          </a:p>
        </p:txBody>
      </p:sp>
      <p:sp>
        <p:nvSpPr>
          <p:cNvPr id="11" name="Text 9"/>
          <p:cNvSpPr/>
          <p:nvPr/>
        </p:nvSpPr>
        <p:spPr>
          <a:xfrm>
            <a:off x="1188720" y="2112264"/>
            <a:ext cx="4023360" cy="274320"/>
          </a:xfrm>
          <a:prstGeom prst="rect">
            <a:avLst/>
          </a:prstGeom>
          <a:noFill/>
          <a:ln/>
        </p:spPr>
        <p:txBody>
          <a:bodyPr wrap="square" lIns="0" tIns="0" rIns="0" bIns="0" rtlCol="0" anchor="ctr"/>
          <a:lstStyle/>
          <a:p>
            <a:pPr marL="0" indent="0">
              <a:buNone/>
            </a:pPr>
            <a:r>
              <a:rPr lang="en-US" sz="1400" b="1" dirty="0" err="1">
                <a:solidFill>
                  <a:srgbClr val="FFFFFF"/>
                </a:solidFill>
                <a:latin typeface="Calibri" pitchFamily="34" charset="0"/>
                <a:ea typeface="Calibri" pitchFamily="34" charset="-122"/>
                <a:cs typeface="Calibri" pitchFamily="34" charset="-120"/>
              </a:rPr>
              <a:t>MedhaSri</a:t>
            </a:r>
            <a:r>
              <a:rPr lang="en-US" sz="1400" b="1" dirty="0">
                <a:solidFill>
                  <a:srgbClr val="FFFFFF"/>
                </a:solidFill>
                <a:latin typeface="Calibri" pitchFamily="34" charset="0"/>
                <a:ea typeface="Calibri" pitchFamily="34" charset="-122"/>
                <a:cs typeface="Calibri" pitchFamily="34" charset="-120"/>
              </a:rPr>
              <a:t>   </a:t>
            </a:r>
            <a:r>
              <a:rPr lang="en-US" sz="1200" dirty="0">
                <a:solidFill>
                  <a:srgbClr val="FFD68A"/>
                </a:solidFill>
                <a:latin typeface="Calibri" pitchFamily="34" charset="0"/>
                <a:ea typeface="Calibri" pitchFamily="34" charset="-122"/>
                <a:cs typeface="Calibri" pitchFamily="34" charset="-120"/>
              </a:rPr>
              <a:t>Data engineer</a:t>
            </a:r>
            <a:endParaRPr lang="en-US" sz="1400" dirty="0"/>
          </a:p>
        </p:txBody>
      </p:sp>
      <p:sp>
        <p:nvSpPr>
          <p:cNvPr id="12" name="Text 10"/>
          <p:cNvSpPr/>
          <p:nvPr/>
        </p:nvSpPr>
        <p:spPr>
          <a:xfrm>
            <a:off x="1188720" y="2359152"/>
            <a:ext cx="4023360" cy="256032"/>
          </a:xfrm>
          <a:prstGeom prst="rect">
            <a:avLst/>
          </a:prstGeom>
          <a:noFill/>
          <a:ln/>
        </p:spPr>
        <p:txBody>
          <a:bodyPr wrap="square" lIns="0" tIns="0" rIns="0" bIns="0" rtlCol="0" anchor="ctr"/>
          <a:lstStyle/>
          <a:p>
            <a:pPr marL="0" indent="0">
              <a:buNone/>
            </a:pPr>
            <a:r>
              <a:rPr lang="en-US" sz="1100" dirty="0">
                <a:solidFill>
                  <a:srgbClr val="9FB4DA"/>
                </a:solidFill>
                <a:latin typeface="Calibri" pitchFamily="34" charset="0"/>
                <a:ea typeface="Calibri" pitchFamily="34" charset="-122"/>
                <a:cs typeface="Calibri" pitchFamily="34" charset="-120"/>
              </a:rPr>
              <a:t>crawl, extraction, cleaning, chunking</a:t>
            </a:r>
            <a:endParaRPr lang="en-US" sz="1100" dirty="0"/>
          </a:p>
        </p:txBody>
      </p:sp>
      <p:sp>
        <p:nvSpPr>
          <p:cNvPr id="13" name="Shape 11"/>
          <p:cNvSpPr/>
          <p:nvPr/>
        </p:nvSpPr>
        <p:spPr>
          <a:xfrm>
            <a:off x="548640" y="2843784"/>
            <a:ext cx="457200" cy="457200"/>
          </a:xfrm>
          <a:prstGeom prst="ellipse">
            <a:avLst/>
          </a:prstGeom>
          <a:solidFill>
            <a:srgbClr val="2563EB"/>
          </a:solidFill>
          <a:ln/>
        </p:spPr>
        <p:txBody>
          <a:bodyPr/>
          <a:lstStyle/>
          <a:p>
            <a:endParaRPr lang="en-US"/>
          </a:p>
        </p:txBody>
      </p:sp>
      <p:sp>
        <p:nvSpPr>
          <p:cNvPr id="14" name="Text 12"/>
          <p:cNvSpPr/>
          <p:nvPr/>
        </p:nvSpPr>
        <p:spPr>
          <a:xfrm>
            <a:off x="548640" y="284378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t>
            </a:r>
            <a:endParaRPr lang="en-US" sz="1300" dirty="0"/>
          </a:p>
        </p:txBody>
      </p:sp>
      <p:sp>
        <p:nvSpPr>
          <p:cNvPr id="15" name="Text 13"/>
          <p:cNvSpPr/>
          <p:nvPr/>
        </p:nvSpPr>
        <p:spPr>
          <a:xfrm>
            <a:off x="1188720" y="2825496"/>
            <a:ext cx="40233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Sanjana   </a:t>
            </a:r>
            <a:r>
              <a:rPr lang="en-US" sz="1200" dirty="0">
                <a:solidFill>
                  <a:srgbClr val="FFD68A"/>
                </a:solidFill>
                <a:latin typeface="Calibri" pitchFamily="34" charset="0"/>
                <a:ea typeface="Calibri" pitchFamily="34" charset="-122"/>
                <a:cs typeface="Calibri" pitchFamily="34" charset="-120"/>
              </a:rPr>
              <a:t>Retrieval engineer</a:t>
            </a:r>
            <a:endParaRPr lang="en-US" sz="1400" dirty="0"/>
          </a:p>
        </p:txBody>
      </p:sp>
      <p:sp>
        <p:nvSpPr>
          <p:cNvPr id="16" name="Text 14"/>
          <p:cNvSpPr/>
          <p:nvPr/>
        </p:nvSpPr>
        <p:spPr>
          <a:xfrm>
            <a:off x="1188720" y="3072384"/>
            <a:ext cx="4023360" cy="256032"/>
          </a:xfrm>
          <a:prstGeom prst="rect">
            <a:avLst/>
          </a:prstGeom>
          <a:noFill/>
          <a:ln/>
        </p:spPr>
        <p:txBody>
          <a:bodyPr wrap="square" lIns="0" tIns="0" rIns="0" bIns="0" rtlCol="0" anchor="ctr"/>
          <a:lstStyle/>
          <a:p>
            <a:pPr marL="0" indent="0">
              <a:buNone/>
            </a:pPr>
            <a:r>
              <a:rPr lang="en-US" sz="1100" dirty="0">
                <a:solidFill>
                  <a:srgbClr val="9FB4DA"/>
                </a:solidFill>
                <a:latin typeface="Calibri" pitchFamily="34" charset="0"/>
                <a:ea typeface="Calibri" pitchFamily="34" charset="-122"/>
                <a:cs typeface="Calibri" pitchFamily="34" charset="-120"/>
              </a:rPr>
              <a:t>embeddings, ChromaDB, BM25, reranking</a:t>
            </a:r>
            <a:endParaRPr lang="en-US" sz="1100" dirty="0"/>
          </a:p>
        </p:txBody>
      </p:sp>
      <p:sp>
        <p:nvSpPr>
          <p:cNvPr id="17" name="Shape 15"/>
          <p:cNvSpPr/>
          <p:nvPr/>
        </p:nvSpPr>
        <p:spPr>
          <a:xfrm>
            <a:off x="548640" y="3557016"/>
            <a:ext cx="457200" cy="457200"/>
          </a:xfrm>
          <a:prstGeom prst="ellipse">
            <a:avLst/>
          </a:prstGeom>
          <a:solidFill>
            <a:srgbClr val="2563EB"/>
          </a:solidFill>
          <a:ln/>
        </p:spPr>
        <p:txBody>
          <a:bodyPr/>
          <a:lstStyle/>
          <a:p>
            <a:endParaRPr lang="en-US"/>
          </a:p>
        </p:txBody>
      </p:sp>
      <p:sp>
        <p:nvSpPr>
          <p:cNvPr id="18" name="Text 16"/>
          <p:cNvSpPr/>
          <p:nvPr/>
        </p:nvSpPr>
        <p:spPr>
          <a:xfrm>
            <a:off x="548640" y="355701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19" name="Text 17"/>
          <p:cNvSpPr/>
          <p:nvPr/>
        </p:nvSpPr>
        <p:spPr>
          <a:xfrm>
            <a:off x="1188720" y="3538728"/>
            <a:ext cx="40233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Manisha   </a:t>
            </a:r>
            <a:r>
              <a:rPr lang="en-US" sz="1200" dirty="0">
                <a:solidFill>
                  <a:srgbClr val="FFD68A"/>
                </a:solidFill>
                <a:latin typeface="Calibri" pitchFamily="34" charset="0"/>
                <a:ea typeface="Calibri" pitchFamily="34" charset="-122"/>
                <a:cs typeface="Calibri" pitchFamily="34" charset="-120"/>
              </a:rPr>
              <a:t>Frontend engineer</a:t>
            </a:r>
            <a:endParaRPr lang="en-US" sz="1400" dirty="0"/>
          </a:p>
        </p:txBody>
      </p:sp>
      <p:sp>
        <p:nvSpPr>
          <p:cNvPr id="20" name="Text 18"/>
          <p:cNvSpPr/>
          <p:nvPr/>
        </p:nvSpPr>
        <p:spPr>
          <a:xfrm>
            <a:off x="1188720" y="3785616"/>
            <a:ext cx="4023360" cy="256032"/>
          </a:xfrm>
          <a:prstGeom prst="rect">
            <a:avLst/>
          </a:prstGeom>
          <a:noFill/>
          <a:ln/>
        </p:spPr>
        <p:txBody>
          <a:bodyPr wrap="square" lIns="0" tIns="0" rIns="0" bIns="0" rtlCol="0" anchor="ctr"/>
          <a:lstStyle/>
          <a:p>
            <a:pPr marL="0" indent="0">
              <a:buNone/>
            </a:pPr>
            <a:r>
              <a:rPr lang="en-US" sz="1100" dirty="0">
                <a:solidFill>
                  <a:srgbClr val="9FB4DA"/>
                </a:solidFill>
                <a:latin typeface="Calibri" pitchFamily="34" charset="0"/>
                <a:ea typeface="Calibri" pitchFamily="34" charset="-122"/>
                <a:cs typeface="Calibri" pitchFamily="34" charset="-120"/>
              </a:rPr>
              <a:t>Streamlit UI, FastAPI integration</a:t>
            </a:r>
            <a:endParaRPr lang="en-US" sz="1100" dirty="0"/>
          </a:p>
        </p:txBody>
      </p:sp>
      <p:sp>
        <p:nvSpPr>
          <p:cNvPr id="21" name="Shape 19"/>
          <p:cNvSpPr/>
          <p:nvPr/>
        </p:nvSpPr>
        <p:spPr>
          <a:xfrm>
            <a:off x="5532120" y="1417320"/>
            <a:ext cx="3108960" cy="2697480"/>
          </a:xfrm>
          <a:prstGeom prst="roundRect">
            <a:avLst>
              <a:gd name="adj" fmla="val 3051"/>
            </a:avLst>
          </a:prstGeom>
          <a:solidFill>
            <a:srgbClr val="24365E"/>
          </a:solidFill>
          <a:ln/>
        </p:spPr>
        <p:txBody>
          <a:bodyPr/>
          <a:lstStyle/>
          <a:p>
            <a:endParaRPr lang="en-US"/>
          </a:p>
        </p:txBody>
      </p:sp>
      <p:sp>
        <p:nvSpPr>
          <p:cNvPr id="22" name="Shape 20"/>
          <p:cNvSpPr/>
          <p:nvPr/>
        </p:nvSpPr>
        <p:spPr>
          <a:xfrm>
            <a:off x="5760720" y="1645920"/>
            <a:ext cx="457200" cy="457200"/>
          </a:xfrm>
          <a:prstGeom prst="ellipse">
            <a:avLst/>
          </a:prstGeom>
          <a:solidFill>
            <a:srgbClr val="FFFFFF"/>
          </a:solidFill>
          <a:ln/>
        </p:spPr>
        <p:txBody>
          <a:bodyPr/>
          <a:lstStyle/>
          <a:p>
            <a:endParaRPr lang="en-US"/>
          </a:p>
        </p:txBody>
      </p:sp>
      <p:pic>
        <p:nvPicPr>
          <p:cNvPr id="23" name="Image 0" descr="assets/icons/branch_n.png"/>
          <p:cNvPicPr>
            <a:picLocks noChangeAspect="1"/>
          </p:cNvPicPr>
          <p:nvPr/>
        </p:nvPicPr>
        <p:blipFill>
          <a:blip r:embed="rId3"/>
          <a:stretch>
            <a:fillRect/>
          </a:stretch>
        </p:blipFill>
        <p:spPr>
          <a:xfrm>
            <a:off x="5884164" y="1769364"/>
            <a:ext cx="210312" cy="210312"/>
          </a:xfrm>
          <a:prstGeom prst="rect">
            <a:avLst/>
          </a:prstGeom>
        </p:spPr>
      </p:pic>
      <p:sp>
        <p:nvSpPr>
          <p:cNvPr id="24" name="Text 21"/>
          <p:cNvSpPr/>
          <p:nvPr/>
        </p:nvSpPr>
        <p:spPr>
          <a:xfrm>
            <a:off x="6400800" y="1719072"/>
            <a:ext cx="210312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How we worked</a:t>
            </a:r>
            <a:endParaRPr lang="en-US" sz="1350" dirty="0"/>
          </a:p>
        </p:txBody>
      </p:sp>
      <p:sp>
        <p:nvSpPr>
          <p:cNvPr id="25" name="Text 22"/>
          <p:cNvSpPr/>
          <p:nvPr/>
        </p:nvSpPr>
        <p:spPr>
          <a:xfrm>
            <a:off x="5760720" y="2148840"/>
            <a:ext cx="2743200" cy="18288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C9D8F0"/>
                </a:solidFill>
                <a:latin typeface="Calibri" pitchFamily="34" charset="0"/>
                <a:ea typeface="Calibri" pitchFamily="34" charset="-122"/>
                <a:cs typeface="Calibri" pitchFamily="34" charset="-120"/>
              </a:rPr>
              <a:t>main branch protected, no direct pushes</a:t>
            </a:r>
            <a:endParaRPr lang="en-US" sz="1100" dirty="0"/>
          </a:p>
          <a:p>
            <a:pPr marL="342900" indent="-342900">
              <a:spcAft>
                <a:spcPts val="600"/>
              </a:spcAft>
              <a:buSzPct val="100000"/>
              <a:buChar char="•"/>
            </a:pPr>
            <a:r>
              <a:rPr lang="en-US" sz="1100" dirty="0">
                <a:solidFill>
                  <a:srgbClr val="C9D8F0"/>
                </a:solidFill>
                <a:latin typeface="Calibri" pitchFamily="34" charset="0"/>
                <a:ea typeface="Calibri" pitchFamily="34" charset="-122"/>
                <a:cs typeface="Calibri" pitchFamily="34" charset="-120"/>
              </a:rPr>
              <a:t>every pull request reviewed by a teammate</a:t>
            </a:r>
            <a:endParaRPr lang="en-US" sz="1100" dirty="0"/>
          </a:p>
          <a:p>
            <a:pPr marL="342900" indent="-342900">
              <a:spcAft>
                <a:spcPts val="600"/>
              </a:spcAft>
              <a:buSzPct val="100000"/>
              <a:buChar char="•"/>
            </a:pPr>
            <a:r>
              <a:rPr lang="en-US" sz="1100" dirty="0">
                <a:solidFill>
                  <a:srgbClr val="C9D8F0"/>
                </a:solidFill>
                <a:latin typeface="Calibri" pitchFamily="34" charset="0"/>
                <a:ea typeface="Calibri" pitchFamily="34" charset="-122"/>
                <a:cs typeface="Calibri" pitchFamily="34" charset="-120"/>
              </a:rPr>
              <a:t>each of us has commits in 2 or more stages</a:t>
            </a:r>
            <a:endParaRPr lang="en-US" sz="1100" dirty="0"/>
          </a:p>
          <a:p>
            <a:pPr marL="342900" indent="-342900">
              <a:spcAft>
                <a:spcPts val="600"/>
              </a:spcAft>
              <a:buSzPct val="100000"/>
              <a:buChar char="•"/>
            </a:pPr>
            <a:r>
              <a:rPr lang="en-US" sz="1100" dirty="0">
                <a:solidFill>
                  <a:srgbClr val="C9D8F0"/>
                </a:solidFill>
                <a:latin typeface="Calibri" pitchFamily="34" charset="0"/>
                <a:ea typeface="Calibri" pitchFamily="34" charset="-122"/>
                <a:cs typeface="Calibri" pitchFamily="34" charset="-120"/>
              </a:rPr>
              <a:t>task board tracked every stage and report</a:t>
            </a:r>
            <a:endParaRPr lang="en-US" sz="1100" dirty="0"/>
          </a:p>
          <a:p>
            <a:pPr marL="342900" indent="-342900">
              <a:spcAft>
                <a:spcPts val="600"/>
              </a:spcAft>
              <a:buSzPct val="100000"/>
              <a:buChar char="•"/>
            </a:pPr>
            <a:r>
              <a:rPr lang="en-US" sz="1100" dirty="0">
                <a:solidFill>
                  <a:srgbClr val="C9D8F0"/>
                </a:solidFill>
                <a:latin typeface="Calibri" pitchFamily="34" charset="0"/>
                <a:ea typeface="Calibri" pitchFamily="34" charset="-122"/>
                <a:cs typeface="Calibri" pitchFamily="34" charset="-120"/>
              </a:rPr>
              <a:t>secrets in .env, git ignored from day one</a:t>
            </a:r>
            <a:endParaRPr lang="en-US" sz="1100" dirty="0"/>
          </a:p>
        </p:txBody>
      </p:sp>
      <p:sp>
        <p:nvSpPr>
          <p:cNvPr id="26" name="Text 23"/>
          <p:cNvSpPr/>
          <p:nvPr/>
        </p:nvSpPr>
        <p:spPr>
          <a:xfrm>
            <a:off x="548640" y="4434840"/>
            <a:ext cx="8046720" cy="365760"/>
          </a:xfrm>
          <a:prstGeom prst="rect">
            <a:avLst/>
          </a:prstGeom>
          <a:noFill/>
          <a:ln/>
        </p:spPr>
        <p:txBody>
          <a:bodyPr wrap="square" lIns="0" tIns="0" rIns="0" bIns="0" rtlCol="0" anchor="ctr"/>
          <a:lstStyle/>
          <a:p>
            <a:pPr marL="0" indent="0">
              <a:buNone/>
            </a:pPr>
            <a:r>
              <a:rPr lang="en-US" sz="1400" i="1" dirty="0">
                <a:solidFill>
                  <a:srgbClr val="D7E3F6"/>
                </a:solidFill>
                <a:latin typeface="Calibri" pitchFamily="34" charset="0"/>
                <a:ea typeface="Calibri" pitchFamily="34" charset="-122"/>
                <a:cs typeface="Calibri" pitchFamily="34" charset="-120"/>
              </a:rPr>
              <a:t>Thank you. Happy to take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3124</Words>
  <Application>Microsoft Office PowerPoint</Application>
  <PresentationFormat>On-screen Show (16:9)</PresentationFormat>
  <Paragraphs>289</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Medha Kolluru</cp:lastModifiedBy>
  <cp:revision>2</cp:revision>
  <dcterms:created xsi:type="dcterms:W3CDTF">2026-07-26T02:56:27Z</dcterms:created>
  <dcterms:modified xsi:type="dcterms:W3CDTF">2026-07-26T03:31:49Z</dcterms:modified>
</cp:coreProperties>
</file>